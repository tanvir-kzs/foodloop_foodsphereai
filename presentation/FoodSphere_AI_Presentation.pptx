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9674cf-8f9c-a4a8-0dfd-9bf1b10b925a}">
          <p14:sldIdLst>
            <p14:sldId id="256"/>
          </p14:sldIdLst>
        </p14:section>
        <p14:section name="Problem and solution" id="{b4cc4e7f-5f91-12e9-8f0c-13b991036e3c}">
          <p14:sldIdLst>
            <p14:sldId id="257"/>
            <p14:sldId id="258"/>
          </p14:sldIdLst>
        </p14:section>
        <p14:section name="Platform" id="{d9e612f1-d4e8-0e59-7d55-b51dbdac19f4}">
          <p14:sldIdLst>
            <p14:sldId id="259"/>
          </p14:sldIdLst>
        </p14:section>
        <p14:section name="Data and AI models" id="{daa714ef-eaf7-a1dc-0b5a-a2dcc40b44ff}">
          <p14:sldIdLst>
            <p14:sldId id="260"/>
            <p14:sldId id="261"/>
            <p14:sldId id="262"/>
            <p14:sldId id="263"/>
          </p14:sldIdLst>
        </p14:section>
        <p14:section name="Technology and impact" id="{0c03f207-d9de-6ca8-85a3-1a44e985fd05}">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2B"/>
                </a:solidFill>
                <a:latin typeface="+mn-lt"/>
              </a:defRPr>
            </a:pPr>
            <a:r>
              <a:rPr sz="1400" b="0" i="0" u="none" strike="noStrike">
                <a:solidFill>
                  <a:srgbClr val="1F4D2B"/>
                </a:solidFill>
                <a:latin typeface="+mn-lt"/>
              </a:rPr>
              <a:t>Where food is wasted (% of total)</a:t>
            </a:r>
          </a:p>
        </c:rich>
      </c:tx>
      <c:layout/>
      <c:overlay val="0"/>
    </c:title>
    <c:autoTitleDeleted val="0"/>
    <c:plotArea>
      <c:layout/>
      <c:doughnutChart>
        <c:varyColors val="1"/>
        <c:ser>
          <c:idx val="0"/>
          <c:order val="0"/>
          <c:tx>
            <c:strRef>
              <c:f>Sheet1!$B$1</c:f>
              <c:strCache>
                <c:ptCount val="1"/>
                <c:pt idx="0">
                  <c:v>Share of food waste</c:v>
                </c:pt>
              </c:strCache>
            </c:strRef>
          </c:tx>
          <c:spPr>
            <a:solidFill>
              <a:schemeClr val="accent1"/>
            </a:solidFill>
            <a:ln w="9525" cap="flat">
              <a:solidFill>
                <a:srgbClr val="F9F9F9"/>
              </a:solidFill>
              <a:prstDash val="solid"/>
              <a:round/>
            </a:ln>
            <a:effectLst/>
          </c:spPr>
          <c:dPt>
            <c:idx val="0"/>
            <c:bubble3D val="0"/>
            <c:spPr>
              <a:solidFill>
                <a:srgbClr val="A5C8A7"/>
              </a:solidFill>
              <a:effectLst/>
            </c:spPr>
          </c:dPt>
          <c:dPt>
            <c:idx val="1"/>
            <c:bubble3D val="0"/>
            <c:spPr>
              <a:solidFill>
                <a:srgbClr val="E07A2F"/>
              </a:solidFill>
              <a:effectLst/>
            </c:spPr>
          </c:dPt>
          <c:dPt>
            <c:idx val="2"/>
            <c:bubble3D val="0"/>
            <c:spPr>
              <a:solidFill>
                <a:srgbClr val="F2B134"/>
              </a:solidFill>
              <a:effectLst/>
            </c:spPr>
          </c:dPt>
          <c:dLbls>
            <c:dLbl>
              <c:idx val="0"/>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Households</c:v>
                </c:pt>
                <c:pt idx="1">
                  <c:v>Food service (restaurants, canteens)</c:v>
                </c:pt>
                <c:pt idx="2">
                  <c:v>Retail (shops, supermarkets)</c:v>
                </c:pt>
              </c:strCache>
            </c:strRef>
          </c:cat>
          <c:val>
            <c:numRef>
              <c:f>Sheet1!$B$2:$B$4</c:f>
              <c:numCache>
                <c:ptCount val="3"/>
                <c:pt idx="0">
                  <c:v>60</c:v>
                </c:pt>
                <c:pt idx="1">
                  <c:v>28</c:v>
                </c:pt>
                <c:pt idx="2">
                  <c:v>12</c:v>
                </c:pt>
              </c:numCache>
            </c:numRef>
          </c:val>
        </c:ser>
        <c:firstSliceAng val="0"/>
        <c:holeSize val="55"/>
      </c:doughnutChart>
      <c:spPr>
        <a:noFill/>
        <a:ln>
          <a:noFill/>
        </a:ln>
        <a:effectLst/>
      </c:spPr>
    </c:plotArea>
    <c:legend>
      <c:legendPos val="b"/>
      <c:overlay val="0"/>
      <c:txPr>
        <a:bodyPr/>
        <a:lstStyle/>
        <a:p>
          <a:pPr>
            <a:defRPr sz="1200">
              <a:solidFill>
                <a:srgbClr val="1B2E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2B"/>
                </a:solidFill>
                <a:latin typeface="+mn-lt"/>
              </a:defRPr>
            </a:pPr>
            <a:r>
              <a:rPr sz="1400" b="0" i="0" u="none" strike="noStrike">
                <a:solidFill>
                  <a:srgbClr val="1F4D2B"/>
                </a:solidFill>
                <a:latin typeface="+mn-lt"/>
              </a:rPr>
              <a:t>Waste-risk accuracy on unseen test days</a:t>
            </a:r>
          </a:p>
        </c:rich>
      </c:tx>
      <c:layout/>
      <c:overlay val="0"/>
    </c:title>
    <c:autoTitleDeleted val="0"/>
    <c:plotArea>
      <c:layout/>
      <c:barChart>
        <c:barDir val="bar"/>
        <c:grouping val="stacked"/>
        <c:varyColors val="0"/>
        <c:ser>
          <c:idx val="0"/>
          <c:order val="0"/>
          <c:tx>
            <c:strRef>
              <c:f>Sheet1!$B$1</c:f>
              <c:strCache>
                <c:ptCount val="1"/>
                <c:pt idx="0">
                  <c:v>Other models</c:v>
                </c:pt>
              </c:strCache>
            </c:strRef>
          </c:tx>
          <c:spPr>
            <a:solidFill>
              <a:srgbClr val="A5C8A7"/>
            </a:solidFill>
            <a:effectLst/>
          </c:spPr>
          <c:invertIfNegative val="0"/>
          <c:dLbls>
            <c:numFmt formatCode="0.0%;;;" sourceLinked="0"/>
            <c:txPr>
              <a:bodyPr/>
              <a:lstStyle/>
              <a:p>
                <a:pPr>
                  <a:defRPr b="1" i="0" strike="noStrike" sz="1100" u="none">
                    <a:solidFill>
                      <a:srgbClr val="1B2E1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Always "Low"</c:v>
                  </c:pt>
                  <c:pt idx="1">
                    <c:v>KNN</c:v>
                  </c:pt>
                  <c:pt idx="2">
                    <c:v>Logistic Reg.</c:v>
                  </c:pt>
                  <c:pt idx="3">
                    <c:v>Decision Tree</c:v>
                  </c:pt>
                  <c:pt idx="4">
                    <c:v>Gradient Boost.</c:v>
                  </c:pt>
                  <c:pt idx="5">
                    <c:v>Random Forest</c:v>
                  </c:pt>
                </c:lvl>
              </c:multiLvlStrCache>
            </c:multiLvlStrRef>
          </c:cat>
          <c:val>
            <c:numRef>
              <c:f>Sheet1!$B$2:$B$7</c:f>
              <c:numCache>
                <c:formatCode>General</c:formatCode>
                <c:ptCount val="6"/>
                <c:pt idx="0">
                  <c:v>0.533</c:v>
                </c:pt>
                <c:pt idx="1">
                  <c:v>0.666</c:v>
                </c:pt>
                <c:pt idx="2">
                  <c:v>0.692</c:v>
                </c:pt>
                <c:pt idx="3">
                  <c:v>0.697</c:v>
                </c:pt>
                <c:pt idx="4">
                  <c:v>0.705</c:v>
                </c:pt>
                <c:pt idx="5">
                  <c:v>0</c:v>
                </c:pt>
              </c:numCache>
            </c:numRef>
          </c:val>
        </c:ser>
        <c:ser>
          <c:idx val="1"/>
          <c:order val="1"/>
          <c:tx>
            <c:strRef>
              <c:f>Sheet1!$C$1</c:f>
              <c:strCache>
                <c:ptCount val="1"/>
                <c:pt idx="0">
                  <c:v>Selected model</c:v>
                </c:pt>
              </c:strCache>
            </c:strRef>
          </c:tx>
          <c:spPr>
            <a:solidFill>
              <a:srgbClr val="2E7D32"/>
            </a:solidFill>
            <a:effectLst/>
          </c:spPr>
          <c:invertIfNegative val="0"/>
          <c:dLbls>
            <c:numFmt formatCode="0.0%;;;" sourceLinked="0"/>
            <c:txPr>
              <a:bodyPr/>
              <a:lstStyle/>
              <a:p>
                <a:pPr>
                  <a:defRPr b="1" i="0" strike="noStrike" sz="1100" u="none">
                    <a:solidFill>
                      <a:srgbClr val="1B2E1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Always "Low"</c:v>
                  </c:pt>
                  <c:pt idx="1">
                    <c:v>KNN</c:v>
                  </c:pt>
                  <c:pt idx="2">
                    <c:v>Logistic Reg.</c:v>
                  </c:pt>
                  <c:pt idx="3">
                    <c:v>Decision Tree</c:v>
                  </c:pt>
                  <c:pt idx="4">
                    <c:v>Gradient Boost.</c:v>
                  </c:pt>
                  <c:pt idx="5">
                    <c:v>Random Forest</c:v>
                  </c:pt>
                </c:lvl>
              </c:multiLvlStrCache>
            </c:multiLvlStrRef>
          </c:cat>
          <c:val>
            <c:numRef>
              <c:f>Sheet1!$C$2:$C$7</c:f>
              <c:numCache>
                <c:formatCode>General</c:formatCode>
                <c:ptCount val="6"/>
                <c:pt idx="0">
                  <c:v>0</c:v>
                </c:pt>
                <c:pt idx="1">
                  <c:v>0</c:v>
                </c:pt>
                <c:pt idx="2">
                  <c:v>0</c:v>
                </c:pt>
                <c:pt idx="3">
                  <c:v>0</c:v>
                </c:pt>
                <c:pt idx="4">
                  <c:v>0</c:v>
                </c:pt>
                <c:pt idx="5">
                  <c:v>0.712</c:v>
                </c:pt>
              </c:numCache>
            </c:numRef>
          </c:val>
        </c:ser>
        <c:dLbls>
          <c:numFmt formatCode="0.0%;;;" sourceLinked="0"/>
          <c:txPr>
            <a:bodyPr/>
            <a:lstStyle/>
            <a:p>
              <a:pPr>
                <a:defRPr b="1" i="0" strike="noStrike" sz="1100" u="none">
                  <a:solidFill>
                    <a:srgbClr val="1B2E1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E1F"/>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b"/>
        <c:majorGridlines>
          <c:spPr>
            <a:ln w="6350" cap="flat">
              <a:solidFill>
                <a:srgbClr val="E3ECE1"/>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D8B7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2B"/>
                </a:solidFill>
                <a:latin typeface="+mn-lt"/>
              </a:defRPr>
            </a:pPr>
            <a:r>
              <a:rPr sz="1400" b="0" i="0" u="none" strike="noStrike">
                <a:solidFill>
                  <a:srgbClr val="1F4D2B"/>
                </a:solidFill>
                <a:latin typeface="+mn-lt"/>
              </a:rPr>
              <a:t>Precision, recall and F1 by waste level</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2E7D32"/>
            </a:solidFill>
            <a:effectLst/>
          </c:spPr>
          <c:invertIfNegative val="0"/>
          <c:dLbls>
            <c:numFmt formatCode="0.00" sourceLinked="0"/>
            <c:txPr>
              <a:bodyPr/>
              <a:lstStyle/>
              <a:p>
                <a:pPr>
                  <a:defRPr b="0" i="0" strike="noStrike" sz="1000" u="none">
                    <a:solidFill>
                      <a:srgbClr val="1B2E1F"/>
                    </a:solidFill>
                    <a:latin typeface="+mn-lt"/>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Sheet1!$B$2:$B$4</c:f>
              <c:numCache>
                <c:formatCode>General</c:formatCode>
                <c:ptCount val="3"/>
                <c:pt idx="0">
                  <c:v>0.796</c:v>
                </c:pt>
                <c:pt idx="1">
                  <c:v>0.552</c:v>
                </c:pt>
                <c:pt idx="2">
                  <c:v>0.721</c:v>
                </c:pt>
              </c:numCache>
            </c:numRef>
          </c:val>
        </c:ser>
        <c:ser>
          <c:idx val="1"/>
          <c:order val="1"/>
          <c:tx>
            <c:strRef>
              <c:f>Sheet1!$C$1</c:f>
              <c:strCache>
                <c:ptCount val="1"/>
                <c:pt idx="0">
                  <c:v>Recall</c:v>
                </c:pt>
              </c:strCache>
            </c:strRef>
          </c:tx>
          <c:spPr>
            <a:solidFill>
              <a:srgbClr val="8BC34A"/>
            </a:solidFill>
            <a:effectLst/>
          </c:spPr>
          <c:invertIfNegative val="0"/>
          <c:dLbls>
            <c:numFmt formatCode="0.00" sourceLinked="0"/>
            <c:txPr>
              <a:bodyPr/>
              <a:lstStyle/>
              <a:p>
                <a:pPr>
                  <a:defRPr b="0" i="0" strike="noStrike" sz="1000" u="none">
                    <a:solidFill>
                      <a:srgbClr val="1B2E1F"/>
                    </a:solidFill>
                    <a:latin typeface="+mn-lt"/>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Sheet1!$C$2:$C$4</c:f>
              <c:numCache>
                <c:formatCode>General</c:formatCode>
                <c:ptCount val="3"/>
                <c:pt idx="0">
                  <c:v>0.861</c:v>
                </c:pt>
                <c:pt idx="1">
                  <c:v>0.561</c:v>
                </c:pt>
                <c:pt idx="2">
                  <c:v>0.508</c:v>
                </c:pt>
              </c:numCache>
            </c:numRef>
          </c:val>
        </c:ser>
        <c:ser>
          <c:idx val="2"/>
          <c:order val="2"/>
          <c:tx>
            <c:strRef>
              <c:f>Sheet1!$D$1</c:f>
              <c:strCache>
                <c:ptCount val="1"/>
                <c:pt idx="0">
                  <c:v>F1 score</c:v>
                </c:pt>
              </c:strCache>
            </c:strRef>
          </c:tx>
          <c:spPr>
            <a:solidFill>
              <a:srgbClr val="E07A2F"/>
            </a:solidFill>
            <a:effectLst/>
          </c:spPr>
          <c:invertIfNegative val="0"/>
          <c:dLbls>
            <c:numFmt formatCode="0.00" sourceLinked="0"/>
            <c:txPr>
              <a:bodyPr/>
              <a:lstStyle/>
              <a:p>
                <a:pPr>
                  <a:defRPr b="0" i="0" strike="noStrike" sz="1000" u="none">
                    <a:solidFill>
                      <a:srgbClr val="1B2E1F"/>
                    </a:solidFill>
                    <a:latin typeface="+mn-lt"/>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Sheet1!$D$2:$D$4</c:f>
              <c:numCache>
                <c:formatCode>General</c:formatCode>
                <c:ptCount val="3"/>
                <c:pt idx="0">
                  <c:v>0.827</c:v>
                </c:pt>
                <c:pt idx="1">
                  <c:v>0.556</c:v>
                </c:pt>
                <c:pt idx="2">
                  <c:v>0.596</c:v>
                </c:pt>
              </c:numCache>
            </c:numRef>
          </c:val>
        </c:ser>
        <c:dLbls>
          <c:numFmt formatCode="0.00" sourceLinked="0"/>
          <c:txPr>
            <a:bodyPr/>
            <a:lstStyle/>
            <a:p>
              <a:pPr>
                <a:defRPr b="0" i="0" strike="noStrike" sz="1000" u="none">
                  <a:solidFill>
                    <a:srgbClr val="1B2E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E1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CE1"/>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D8B7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E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D2B"/>
                </a:solidFill>
                <a:latin typeface="+mn-lt"/>
              </a:defRPr>
            </a:pPr>
            <a:r>
              <a:rPr sz="1400" b="0" i="0" u="none" strike="noStrike">
                <a:solidFill>
                  <a:srgbClr val="1F4D2B"/>
                </a:solidFill>
                <a:latin typeface="+mn-lt"/>
              </a:rPr>
              <a:t>Delivery-success models on unseen test data</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2E7D32"/>
            </a:solidFill>
            <a:effectLst/>
          </c:spPr>
          <c:invertIfNegative val="0"/>
          <c:dLbls>
            <c:numFmt formatCode="0.00" sourceLinked="0"/>
            <c:txPr>
              <a:bodyPr/>
              <a:lstStyle/>
              <a:p>
                <a:pPr>
                  <a:defRPr b="0" i="0" strike="noStrike" sz="900" u="none">
                    <a:solidFill>
                      <a:srgbClr val="1B2E1F"/>
                    </a:solidFill>
                    <a:latin typeface="+mn-lt"/>
                  </a:defRPr>
                </a:pPr>
              </a:p>
            </c:txPr>
            <c:showLegendKey val="0"/>
            <c:showVal val="1"/>
            <c:showCatName val="0"/>
            <c:showSerName val="0"/>
            <c:showPercent val="0"/>
            <c:showBubbleSize val="0"/>
            <c:showLeaderLines val="0"/>
          </c:dLbls>
          <c:cat>
            <c:multiLvlStrRef>
              <c:f>Sheet1!$A$2:$A$6</c:f>
              <c:multiLvlStrCache>
                <c:ptCount val="5"/>
                <c:lvl>
                  <c:pt idx="0">
                    <c:v>KNN</c:v>
                  </c:pt>
                  <c:pt idx="1">
                    <c:v>Logistic Reg.</c:v>
                  </c:pt>
                  <c:pt idx="2">
                    <c:v>Decision Tree</c:v>
                  </c:pt>
                  <c:pt idx="3">
                    <c:v>Random Forest</c:v>
                  </c:pt>
                  <c:pt idx="4">
                    <c:v>Gradient Boost.</c:v>
                  </c:pt>
                </c:lvl>
              </c:multiLvlStrCache>
            </c:multiLvlStrRef>
          </c:cat>
          <c:val>
            <c:numRef>
              <c:f>Sheet1!$B$2:$B$6</c:f>
              <c:numCache>
                <c:formatCode>General</c:formatCode>
                <c:ptCount val="5"/>
                <c:pt idx="0">
                  <c:v>0.744</c:v>
                </c:pt>
                <c:pt idx="1">
                  <c:v>0.781</c:v>
                </c:pt>
                <c:pt idx="2">
                  <c:v>0.793</c:v>
                </c:pt>
                <c:pt idx="3">
                  <c:v>0.81</c:v>
                </c:pt>
                <c:pt idx="4">
                  <c:v>0.811</c:v>
                </c:pt>
              </c:numCache>
            </c:numRef>
          </c:val>
        </c:ser>
        <c:ser>
          <c:idx val="1"/>
          <c:order val="1"/>
          <c:tx>
            <c:strRef>
              <c:f>Sheet1!$C$1</c:f>
              <c:strCache>
                <c:ptCount val="1"/>
                <c:pt idx="0">
                  <c:v>F1 score</c:v>
                </c:pt>
              </c:strCache>
            </c:strRef>
          </c:tx>
          <c:spPr>
            <a:solidFill>
              <a:srgbClr val="8BC34A"/>
            </a:solidFill>
            <a:effectLst/>
          </c:spPr>
          <c:invertIfNegative val="0"/>
          <c:dLbls>
            <c:numFmt formatCode="0.00" sourceLinked="0"/>
            <c:txPr>
              <a:bodyPr/>
              <a:lstStyle/>
              <a:p>
                <a:pPr>
                  <a:defRPr b="0" i="0" strike="noStrike" sz="900" u="none">
                    <a:solidFill>
                      <a:srgbClr val="1B2E1F"/>
                    </a:solidFill>
                    <a:latin typeface="+mn-lt"/>
                  </a:defRPr>
                </a:pPr>
              </a:p>
            </c:txPr>
            <c:showLegendKey val="0"/>
            <c:showVal val="1"/>
            <c:showCatName val="0"/>
            <c:showSerName val="0"/>
            <c:showPercent val="0"/>
            <c:showBubbleSize val="0"/>
            <c:showLeaderLines val="0"/>
          </c:dLbls>
          <c:cat>
            <c:multiLvlStrRef>
              <c:f>Sheet1!$A$2:$A$6</c:f>
              <c:multiLvlStrCache>
                <c:ptCount val="5"/>
                <c:lvl>
                  <c:pt idx="0">
                    <c:v>KNN</c:v>
                  </c:pt>
                  <c:pt idx="1">
                    <c:v>Logistic Reg.</c:v>
                  </c:pt>
                  <c:pt idx="2">
                    <c:v>Decision Tree</c:v>
                  </c:pt>
                  <c:pt idx="3">
                    <c:v>Random Forest</c:v>
                  </c:pt>
                  <c:pt idx="4">
                    <c:v>Gradient Boost.</c:v>
                  </c:pt>
                </c:lvl>
              </c:multiLvlStrCache>
            </c:multiLvlStrRef>
          </c:cat>
          <c:val>
            <c:numRef>
              <c:f>Sheet1!$C$2:$C$6</c:f>
              <c:numCache>
                <c:formatCode>General</c:formatCode>
                <c:ptCount val="5"/>
                <c:pt idx="0">
                  <c:v>0.73</c:v>
                </c:pt>
                <c:pt idx="1">
                  <c:v>0.758</c:v>
                </c:pt>
                <c:pt idx="2">
                  <c:v>0.771</c:v>
                </c:pt>
                <c:pt idx="3">
                  <c:v>0.783</c:v>
                </c:pt>
                <c:pt idx="4">
                  <c:v>0.784</c:v>
                </c:pt>
              </c:numCache>
            </c:numRef>
          </c:val>
        </c:ser>
        <c:ser>
          <c:idx val="2"/>
          <c:order val="2"/>
          <c:tx>
            <c:strRef>
              <c:f>Sheet1!$D$1</c:f>
              <c:strCache>
                <c:ptCount val="1"/>
                <c:pt idx="0">
                  <c:v>ROC-AUC</c:v>
                </c:pt>
              </c:strCache>
            </c:strRef>
          </c:tx>
          <c:spPr>
            <a:solidFill>
              <a:srgbClr val="E07A2F"/>
            </a:solidFill>
            <a:effectLst/>
          </c:spPr>
          <c:invertIfNegative val="0"/>
          <c:dLbls>
            <c:numFmt formatCode="0.00" sourceLinked="0"/>
            <c:txPr>
              <a:bodyPr/>
              <a:lstStyle/>
              <a:p>
                <a:pPr>
                  <a:defRPr b="0" i="0" strike="noStrike" sz="900" u="none">
                    <a:solidFill>
                      <a:srgbClr val="1B2E1F"/>
                    </a:solidFill>
                    <a:latin typeface="+mn-lt"/>
                  </a:defRPr>
                </a:pPr>
              </a:p>
            </c:txPr>
            <c:showLegendKey val="0"/>
            <c:showVal val="1"/>
            <c:showCatName val="0"/>
            <c:showSerName val="0"/>
            <c:showPercent val="0"/>
            <c:showBubbleSize val="0"/>
            <c:showLeaderLines val="0"/>
          </c:dLbls>
          <c:cat>
            <c:multiLvlStrRef>
              <c:f>Sheet1!$A$2:$A$6</c:f>
              <c:multiLvlStrCache>
                <c:ptCount val="5"/>
                <c:lvl>
                  <c:pt idx="0">
                    <c:v>KNN</c:v>
                  </c:pt>
                  <c:pt idx="1">
                    <c:v>Logistic Reg.</c:v>
                  </c:pt>
                  <c:pt idx="2">
                    <c:v>Decision Tree</c:v>
                  </c:pt>
                  <c:pt idx="3">
                    <c:v>Random Forest</c:v>
                  </c:pt>
                  <c:pt idx="4">
                    <c:v>Gradient Boost.</c:v>
                  </c:pt>
                </c:lvl>
              </c:multiLvlStrCache>
            </c:multiLvlStrRef>
          </c:cat>
          <c:val>
            <c:numRef>
              <c:f>Sheet1!$D$2:$D$6</c:f>
              <c:numCache>
                <c:formatCode>General</c:formatCode>
                <c:ptCount val="5"/>
                <c:pt idx="0">
                  <c:v>0.818</c:v>
                </c:pt>
                <c:pt idx="1">
                  <c:v>0.856</c:v>
                </c:pt>
                <c:pt idx="2">
                  <c:v>0.871</c:v>
                </c:pt>
                <c:pt idx="3">
                  <c:v>0.872</c:v>
                </c:pt>
                <c:pt idx="4">
                  <c:v>0.877</c:v>
                </c:pt>
              </c:numCache>
            </c:numRef>
          </c:val>
        </c:ser>
        <c:dLbls>
          <c:numFmt formatCode="0.00" sourceLinked="0"/>
          <c:txPr>
            <a:bodyPr/>
            <a:lstStyle/>
            <a:p>
              <a:pPr>
                <a:defRPr b="0" i="0" strike="noStrike" sz="900" u="none">
                  <a:solidFill>
                    <a:srgbClr val="1B2E1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E1F"/>
                </a:solidFill>
                <a:latin typeface="+mn-lt"/>
              </a:defRPr>
            </a:pPr>
            <a:endParaRPr lang="en-US"/>
          </a:p>
        </c:txPr>
        <c:crossAx val="2094734552"/>
        <c:crosses val="autoZero"/>
        <c:auto val="1"/>
        <c:lblAlgn val="ctr"/>
        <c:noMultiLvlLbl val="1"/>
      </c:catAx>
      <c:valAx>
        <c:axId val="2094734552"/>
        <c:scaling>
          <c:orientation val="minMax"/>
          <c:max val="0.95"/>
          <c:min val="0.5"/>
        </c:scaling>
        <c:delete val="0"/>
        <c:axPos val="l"/>
        <c:majorGridlines>
          <c:spPr>
            <a:ln w="6350" cap="flat">
              <a:solidFill>
                <a:srgbClr val="E3ECE1"/>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D8B7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E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FoodSphere AI: a web platform that uses two AI models to predict food waste before it happens and to send surplus food to the organization most likely to receive it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waste is a global problem: 1.05 billion tonnes in 2022, about one fifth of food available to consumers, while 783 million people face hunger. Food service and retail together make up 40% of waste, which is exactly the group our platform serves. Source: UNEP Food Waste Index Report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works in four steps. Two of them are powered by machine learning: predicting leftovers in the morning, and choosing the organization most likely to receive the food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share one platform. Role-based access means each user only sees their own data; for example, a donor address is hidden until a donation is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1 uses the real Kaggle dataset. For AI 2 no public dataset exists, so we generated a realistic synthetic dataset, made it deliberately messy, and labelled it clearly as synthetic. Both were cleaned with the same careful rules: no leakage, a date-based split, and statistics learned from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options were compared on the most recent, unseen test days. Random Forest is the most accurate at 71.2%, clearly above the 53.3% baseline of always guessing Low. The leftover amount model reaches R squared 0.915. The model was chosen before looking at the test results, by accuracy across five rolling time periods, so there is no cheating.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the model is strongest on Low days, with 86% recall. Errors are almost always between neighbouring levels, for example Medium predicted as Low. Even a model told the real leftover amount would only reach about 88%, so this is close to what morning-only information allows. Macro F1 is 0.66 and ROC-AUC 0.86.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2 predicts whether offering a donation to an organization will end in a successful delivery. Gradient Boosting performs best: 81.1% accuracy, recall 0.84 and ROC-AUC 0.877. Be transparent with the judges: this model is trained on a synthetic dataset, so it demonstrates the approach; real delivery data from the app would be used to retrain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are trained in Python notebooks, exported as files, and run directly inside the Next.js app in TypeScript. We check that the app gives exactly the same predictions as Python, and 50 automated tests cover the whole donation journey and security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impact and be honest about limits: waste risk is close to the ceiling of morning-only information, and the matching model needs real delivery data. Next steps are a real pilot, online deployment and mobile alerts.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3246120"/>
            <a:ext cx="6766560" cy="10972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FoodSphere AI  ·  Food Waste Zero</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400" b="1" dirty="0">
                <a:solidFill>
                  <a:schemeClr val="bg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FoodSphere AI</a:t>
            </a:r>
            <a:endParaRPr lang="en-US" sz="5400" dirty="0"/>
          </a:p>
        </p:txBody>
      </p:sp>
      <p:sp>
        <p:nvSpPr>
          <p:cNvPr id="3" name="Text 0"/>
          <p:cNvSpPr/>
          <p:nvPr>
            <p:ph idx="101" type="body" hasCustomPrompt="1"/>
          </p:nvPr>
        </p:nvSpPr>
        <p:spPr>
          <a:xfrm>
            <a:off x="731520" y="3246120"/>
            <a:ext cx="6766560" cy="1097280"/>
          </a:xfrm>
          <a:prstGeom prst="rect">
            <a:avLst/>
          </a:prstGeom>
          <a:noFill/>
          <a:ln/>
        </p:spPr>
        <p:txBody>
          <a:bodyPr wrap="square" lIns="0" tIns="0" rIns="0" bIns="0" rtlCol="0" anchor="t"/>
          <a:lstStyle/>
          <a:p>
            <a:pPr indent="0" marL="0">
              <a:buNone/>
            </a:pPr>
            <a:r>
              <a:rPr lang="en-US" sz="2200" dirty="0">
                <a:solidFill>
                  <a:schemeClr val="bg2"/>
                </a:solidFill>
              </a:rPr>
              <a:t>Predicting food waste and rescuing surplus food with AI</a:t>
            </a:r>
            <a:endParaRPr lang="en-US" sz="2200" dirty="0"/>
          </a:p>
        </p:txBody>
      </p:sp>
      <p:sp>
        <p:nvSpPr>
          <p:cNvPr id="4" name="Text 2"/>
          <p:cNvSpPr txBox="1"/>
          <p:nvPr/>
        </p:nvSpPr>
        <p:spPr>
          <a:xfrm>
            <a:off x="731520" y="1325880"/>
            <a:ext cx="731520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FOOD WASTE ZERO  ·  FULL-STACK WEB APP  ·  2 MACHINE-LEARNING MODELS</a:t>
            </a:r>
            <a:endParaRPr lang="en-US" sz="1300" dirty="0"/>
          </a:p>
        </p:txBody>
      </p:sp>
      <p:sp>
        <p:nvSpPr>
          <p:cNvPr id="5" name="hero circle"/>
          <p:cNvSpPr/>
          <p:nvPr/>
        </p:nvSpPr>
        <p:spPr>
          <a:xfrm>
            <a:off x="8412480" y="1188720"/>
            <a:ext cx="3108960" cy="3108960"/>
          </a:xfrm>
          <a:prstGeom prst="ellipse">
            <a:avLst/>
          </a:prstGeom>
          <a:solidFill>
            <a:schemeClr val="accent1"/>
          </a:solidFill>
          <a:ln/>
        </p:spPr>
      </p:sp>
      <p:pic>
        <p:nvPicPr>
          <p:cNvPr id="6" name="hero icon" descr="preencoded.png">    </p:cNvPr>
          <p:cNvPicPr>
            <a:picLocks noChangeAspect="1"/>
          </p:cNvPicPr>
          <p:nvPr/>
        </p:nvPicPr>
        <p:blipFill>
          <a:blip r:embed="rId1"/>
          <a:stretch>
            <a:fillRect/>
          </a:stretch>
        </p:blipFill>
        <p:spPr>
          <a:xfrm>
            <a:off x="9189720" y="1965960"/>
            <a:ext cx="1554480" cy="1554480"/>
          </a:xfrm>
          <a:prstGeom prst="rect">
            <a:avLst/>
          </a:prstGeom>
        </p:spPr>
      </p:pic>
      <p:sp>
        <p:nvSpPr>
          <p:cNvPr id="7" name="small circle"/>
          <p:cNvSpPr/>
          <p:nvPr/>
        </p:nvSpPr>
        <p:spPr>
          <a:xfrm>
            <a:off x="8001000" y="3520440"/>
            <a:ext cx="1097280" cy="1097280"/>
          </a:xfrm>
          <a:prstGeom prst="ellipse">
            <a:avLst/>
          </a:prstGeom>
          <a:solidFill>
            <a:schemeClr val="accent2"/>
          </a:solidFill>
          <a:ln/>
        </p:spPr>
      </p:sp>
      <p:pic>
        <p:nvPicPr>
          <p:cNvPr id="8" name="small icon" descr="preencoded.png">    </p:cNvPr>
          <p:cNvPicPr>
            <a:picLocks noChangeAspect="1"/>
          </p:cNvPicPr>
          <p:nvPr/>
        </p:nvPicPr>
        <p:blipFill>
          <a:blip r:embed="rId2"/>
          <a:stretch>
            <a:fillRect/>
          </a:stretch>
        </p:blipFill>
        <p:spPr>
          <a:xfrm>
            <a:off x="8275320" y="3794760"/>
            <a:ext cx="548640" cy="548640"/>
          </a:xfrm>
          <a:prstGeom prst="rect">
            <a:avLst/>
          </a:prstGeom>
        </p:spPr>
      </p:pic>
      <p:sp>
        <p:nvSpPr>
          <p:cNvPr id="9" name="stat chip 1"/>
          <p:cNvSpPr/>
          <p:nvPr/>
        </p:nvSpPr>
        <p:spPr>
          <a:xfrm>
            <a:off x="731520" y="4983480"/>
            <a:ext cx="2286000" cy="1005840"/>
          </a:xfrm>
          <a:prstGeom prst="roundRect">
            <a:avLst>
              <a:gd name="adj" fmla="val 9091"/>
            </a:avLst>
          </a:prstGeom>
          <a:solidFill>
            <a:schemeClr val="tx1">
              <a:alpha val="65000"/>
            </a:schemeClr>
          </a:solidFill>
          <a:ln w="12700">
            <a:solidFill>
              <a:schemeClr val="accent3"/>
            </a:solidFill>
            <a:prstDash val="solid"/>
          </a:ln>
        </p:spPr>
      </p:sp>
      <p:sp>
        <p:nvSpPr>
          <p:cNvPr id="10" name="Text 6"/>
          <p:cNvSpPr txBox="1"/>
          <p:nvPr/>
        </p:nvSpPr>
        <p:spPr>
          <a:xfrm>
            <a:off x="914400" y="5074920"/>
            <a:ext cx="1920240" cy="502920"/>
          </a:xfrm>
          <a:prstGeom prst="rect">
            <a:avLst/>
          </a:prstGeom>
          <a:noFill/>
          <a:ln/>
        </p:spPr>
        <p:txBody>
          <a:bodyPr wrap="square" lIns="0" tIns="0" rIns="0" bIns="0" rtlCol="0" anchor="ctr"/>
          <a:lstStyle/>
          <a:p>
            <a:pPr indent="0" marL="0">
              <a:buNone/>
            </a:pPr>
            <a:r>
              <a:rPr lang="en-US" sz="2600" b="1" dirty="0">
                <a:solidFill>
                  <a:schemeClr val="accent4"/>
                </a:solidFill>
                <a:latin typeface="Cambria" pitchFamily="34" charset="0"/>
                <a:ea typeface="Cambria" pitchFamily="34" charset="-122"/>
                <a:cs typeface="Cambria" pitchFamily="34" charset="-120"/>
              </a:rPr>
              <a:t>71.2%</a:t>
            </a:r>
            <a:endParaRPr lang="en-US" sz="2600" dirty="0"/>
          </a:p>
        </p:txBody>
      </p:sp>
      <p:sp>
        <p:nvSpPr>
          <p:cNvPr id="11" name="Text 7"/>
          <p:cNvSpPr txBox="1"/>
          <p:nvPr/>
        </p:nvSpPr>
        <p:spPr>
          <a:xfrm>
            <a:off x="914400" y="5559552"/>
            <a:ext cx="1920240" cy="320040"/>
          </a:xfrm>
          <a:prstGeom prst="rect">
            <a:avLst/>
          </a:prstGeom>
          <a:noFill/>
          <a:ln/>
        </p:spPr>
        <p:txBody>
          <a:bodyPr wrap="square" lIns="0" tIns="0" rIns="0" bIns="0" rtlCol="0" anchor="ctr"/>
          <a:lstStyle/>
          <a:p>
            <a:pPr indent="0" marL="0">
              <a:buNone/>
            </a:pPr>
            <a:r>
              <a:rPr lang="en-US" sz="1300" dirty="0">
                <a:solidFill>
                  <a:schemeClr val="bg2"/>
                </a:solidFill>
              </a:rPr>
              <a:t>waste-risk accuracy</a:t>
            </a:r>
            <a:endParaRPr lang="en-US" sz="1300" dirty="0"/>
          </a:p>
        </p:txBody>
      </p:sp>
      <p:sp>
        <p:nvSpPr>
          <p:cNvPr id="12" name="stat chip 2"/>
          <p:cNvSpPr/>
          <p:nvPr/>
        </p:nvSpPr>
        <p:spPr>
          <a:xfrm>
            <a:off x="3246120" y="4983480"/>
            <a:ext cx="2286000" cy="1005840"/>
          </a:xfrm>
          <a:prstGeom prst="roundRect">
            <a:avLst>
              <a:gd name="adj" fmla="val 9091"/>
            </a:avLst>
          </a:prstGeom>
          <a:solidFill>
            <a:schemeClr val="tx1">
              <a:alpha val="65000"/>
            </a:schemeClr>
          </a:solidFill>
          <a:ln w="12700">
            <a:solidFill>
              <a:schemeClr val="accent3"/>
            </a:solidFill>
            <a:prstDash val="solid"/>
          </a:ln>
        </p:spPr>
      </p:sp>
      <p:sp>
        <p:nvSpPr>
          <p:cNvPr id="13" name="Text 9"/>
          <p:cNvSpPr txBox="1"/>
          <p:nvPr/>
        </p:nvSpPr>
        <p:spPr>
          <a:xfrm>
            <a:off x="3429000" y="5074920"/>
            <a:ext cx="1920240" cy="502920"/>
          </a:xfrm>
          <a:prstGeom prst="rect">
            <a:avLst/>
          </a:prstGeom>
          <a:noFill/>
          <a:ln/>
        </p:spPr>
        <p:txBody>
          <a:bodyPr wrap="square" lIns="0" tIns="0" rIns="0" bIns="0" rtlCol="0" anchor="ctr"/>
          <a:lstStyle/>
          <a:p>
            <a:pPr indent="0" marL="0">
              <a:buNone/>
            </a:pPr>
            <a:r>
              <a:rPr lang="en-US" sz="2600" b="1" dirty="0">
                <a:solidFill>
                  <a:schemeClr val="accent4"/>
                </a:solidFill>
                <a:latin typeface="Cambria" pitchFamily="34" charset="0"/>
                <a:ea typeface="Cambria" pitchFamily="34" charset="-122"/>
                <a:cs typeface="Cambria" pitchFamily="34" charset="-120"/>
              </a:rPr>
              <a:t>81.1%</a:t>
            </a:r>
            <a:endParaRPr lang="en-US" sz="2600" dirty="0"/>
          </a:p>
        </p:txBody>
      </p:sp>
      <p:sp>
        <p:nvSpPr>
          <p:cNvPr id="14" name="Text 10"/>
          <p:cNvSpPr txBox="1"/>
          <p:nvPr/>
        </p:nvSpPr>
        <p:spPr>
          <a:xfrm>
            <a:off x="3429000" y="5559552"/>
            <a:ext cx="1920240" cy="320040"/>
          </a:xfrm>
          <a:prstGeom prst="rect">
            <a:avLst/>
          </a:prstGeom>
          <a:noFill/>
          <a:ln/>
        </p:spPr>
        <p:txBody>
          <a:bodyPr wrap="square" lIns="0" tIns="0" rIns="0" bIns="0" rtlCol="0" anchor="ctr"/>
          <a:lstStyle/>
          <a:p>
            <a:pPr indent="0" marL="0">
              <a:buNone/>
            </a:pPr>
            <a:r>
              <a:rPr lang="en-US" sz="1300" dirty="0">
                <a:solidFill>
                  <a:schemeClr val="bg2"/>
                </a:solidFill>
              </a:rPr>
              <a:t>match accuracy</a:t>
            </a:r>
            <a:endParaRPr lang="en-US" sz="1300" dirty="0"/>
          </a:p>
        </p:txBody>
      </p:sp>
      <p:sp>
        <p:nvSpPr>
          <p:cNvPr id="15" name="stat chip 3"/>
          <p:cNvSpPr/>
          <p:nvPr/>
        </p:nvSpPr>
        <p:spPr>
          <a:xfrm>
            <a:off x="5760720" y="4983480"/>
            <a:ext cx="2286000" cy="1005840"/>
          </a:xfrm>
          <a:prstGeom prst="roundRect">
            <a:avLst>
              <a:gd name="adj" fmla="val 9091"/>
            </a:avLst>
          </a:prstGeom>
          <a:solidFill>
            <a:schemeClr val="tx1">
              <a:alpha val="65000"/>
            </a:schemeClr>
          </a:solidFill>
          <a:ln w="12700">
            <a:solidFill>
              <a:schemeClr val="accent3"/>
            </a:solidFill>
            <a:prstDash val="solid"/>
          </a:ln>
        </p:spPr>
      </p:sp>
      <p:sp>
        <p:nvSpPr>
          <p:cNvPr id="16" name="Text 12"/>
          <p:cNvSpPr txBox="1"/>
          <p:nvPr/>
        </p:nvSpPr>
        <p:spPr>
          <a:xfrm>
            <a:off x="5943600" y="5074920"/>
            <a:ext cx="1920240" cy="502920"/>
          </a:xfrm>
          <a:prstGeom prst="rect">
            <a:avLst/>
          </a:prstGeom>
          <a:noFill/>
          <a:ln/>
        </p:spPr>
        <p:txBody>
          <a:bodyPr wrap="square" lIns="0" tIns="0" rIns="0" bIns="0" rtlCol="0" anchor="ctr"/>
          <a:lstStyle/>
          <a:p>
            <a:pPr indent="0" marL="0">
              <a:buNone/>
            </a:pPr>
            <a:r>
              <a:rPr lang="en-US" sz="2600" b="1" dirty="0">
                <a:solidFill>
                  <a:schemeClr val="accent4"/>
                </a:solidFill>
                <a:latin typeface="Cambria" pitchFamily="34" charset="0"/>
                <a:ea typeface="Cambria" pitchFamily="34" charset="-122"/>
                <a:cs typeface="Cambria" pitchFamily="34" charset="-120"/>
              </a:rPr>
              <a:t>8,000</a:t>
            </a:r>
            <a:endParaRPr lang="en-US" sz="2600" dirty="0"/>
          </a:p>
        </p:txBody>
      </p:sp>
      <p:sp>
        <p:nvSpPr>
          <p:cNvPr id="17" name="Text 13"/>
          <p:cNvSpPr txBox="1"/>
          <p:nvPr/>
        </p:nvSpPr>
        <p:spPr>
          <a:xfrm>
            <a:off x="5943600" y="5559552"/>
            <a:ext cx="1920240" cy="320040"/>
          </a:xfrm>
          <a:prstGeom prst="rect">
            <a:avLst/>
          </a:prstGeom>
          <a:noFill/>
          <a:ln/>
        </p:spPr>
        <p:txBody>
          <a:bodyPr wrap="square" lIns="0" tIns="0" rIns="0" bIns="0" rtlCol="0" anchor="ctr"/>
          <a:lstStyle/>
          <a:p>
            <a:pPr indent="0" marL="0">
              <a:buNone/>
            </a:pPr>
            <a:r>
              <a:rPr lang="en-US" sz="1300" dirty="0">
                <a:solidFill>
                  <a:schemeClr val="bg2"/>
                </a:solidFill>
              </a:rPr>
              <a:t>real food records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Good food is thrown away while millions go hungry</a:t>
            </a:r>
            <a:endParaRPr lang="en-US" sz="3400" dirty="0"/>
          </a:p>
        </p:txBody>
      </p:sp>
      <p:sp>
        <p:nvSpPr>
          <p:cNvPr id="3" name="problem stat 1"/>
          <p:cNvSpPr/>
          <p:nvPr/>
        </p:nvSpPr>
        <p:spPr>
          <a:xfrm>
            <a:off x="548640" y="1417320"/>
            <a:ext cx="5120640" cy="1280160"/>
          </a:xfrm>
          <a:prstGeom prst="roundRect">
            <a:avLst>
              <a:gd name="adj" fmla="val 8571"/>
            </a:avLst>
          </a:prstGeom>
          <a:solidFill>
            <a:schemeClr val="bg2"/>
          </a:solidFill>
          <a:ln/>
          <a:effectLst>
            <a:outerShdw sx="100000" sy="100000" kx="0" ky="0" algn="bl" rotWithShape="0" blurRad="76200" dist="25400" dir="5400000">
              <a:srgbClr val="1B2E1F">
                <a:alpha val="12000"/>
              </a:srgbClr>
            </a:outerShdw>
          </a:effectLst>
        </p:spPr>
      </p:sp>
      <p:sp>
        <p:nvSpPr>
          <p:cNvPr id="4" name="Text 2"/>
          <p:cNvSpPr txBox="1"/>
          <p:nvPr/>
        </p:nvSpPr>
        <p:spPr>
          <a:xfrm>
            <a:off x="822960" y="1581912"/>
            <a:ext cx="2194560"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1.05 bn</a:t>
            </a:r>
            <a:endParaRPr lang="en-US" sz="4000" dirty="0"/>
          </a:p>
        </p:txBody>
      </p:sp>
      <p:sp>
        <p:nvSpPr>
          <p:cNvPr id="5" name="Text 3"/>
          <p:cNvSpPr txBox="1"/>
          <p:nvPr/>
        </p:nvSpPr>
        <p:spPr>
          <a:xfrm>
            <a:off x="3017520" y="1581912"/>
            <a:ext cx="2468880" cy="914400"/>
          </a:xfrm>
          <a:prstGeom prst="rect">
            <a:avLst/>
          </a:prstGeom>
          <a:noFill/>
          <a:ln/>
        </p:spPr>
        <p:txBody>
          <a:bodyPr wrap="square" lIns="0" tIns="0" rIns="0" bIns="0" rtlCol="0" anchor="ctr"/>
          <a:lstStyle/>
          <a:p>
            <a:pPr indent="0" marL="0">
              <a:buNone/>
            </a:pPr>
            <a:r>
              <a:rPr lang="en-US" sz="1500" dirty="0">
                <a:solidFill>
                  <a:schemeClr val="tx1"/>
                </a:solidFill>
              </a:rPr>
              <a:t>tonnes of food wasted worldwide in 2022</a:t>
            </a:r>
            <a:endParaRPr lang="en-US" sz="1500" dirty="0"/>
          </a:p>
        </p:txBody>
      </p:sp>
      <p:sp>
        <p:nvSpPr>
          <p:cNvPr id="6" name="problem stat 2"/>
          <p:cNvSpPr/>
          <p:nvPr/>
        </p:nvSpPr>
        <p:spPr>
          <a:xfrm>
            <a:off x="548640" y="2926080"/>
            <a:ext cx="5120640" cy="1280160"/>
          </a:xfrm>
          <a:prstGeom prst="roundRect">
            <a:avLst>
              <a:gd name="adj" fmla="val 8571"/>
            </a:avLst>
          </a:prstGeom>
          <a:solidFill>
            <a:schemeClr val="bg2"/>
          </a:solidFill>
          <a:ln/>
          <a:effectLst>
            <a:outerShdw sx="100000" sy="100000" kx="0" ky="0" algn="bl" rotWithShape="0" blurRad="76200" dist="25400" dir="5400000">
              <a:srgbClr val="1B2E1F">
                <a:alpha val="12000"/>
              </a:srgbClr>
            </a:outerShdw>
          </a:effectLst>
        </p:spPr>
      </p:sp>
      <p:sp>
        <p:nvSpPr>
          <p:cNvPr id="7" name="Text 5"/>
          <p:cNvSpPr txBox="1"/>
          <p:nvPr/>
        </p:nvSpPr>
        <p:spPr>
          <a:xfrm>
            <a:off x="822960" y="3090672"/>
            <a:ext cx="2194560"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 in 5</a:t>
            </a:r>
            <a:endParaRPr lang="en-US" sz="4000" dirty="0"/>
          </a:p>
        </p:txBody>
      </p:sp>
      <p:sp>
        <p:nvSpPr>
          <p:cNvPr id="8" name="Text 6"/>
          <p:cNvSpPr txBox="1"/>
          <p:nvPr/>
        </p:nvSpPr>
        <p:spPr>
          <a:xfrm>
            <a:off x="3017520" y="3090672"/>
            <a:ext cx="2468880" cy="914400"/>
          </a:xfrm>
          <a:prstGeom prst="rect">
            <a:avLst/>
          </a:prstGeom>
          <a:noFill/>
          <a:ln/>
        </p:spPr>
        <p:txBody>
          <a:bodyPr wrap="square" lIns="0" tIns="0" rIns="0" bIns="0" rtlCol="0" anchor="ctr"/>
          <a:lstStyle/>
          <a:p>
            <a:pPr indent="0" marL="0">
              <a:buNone/>
            </a:pPr>
            <a:r>
              <a:rPr lang="en-US" sz="1500" dirty="0">
                <a:solidFill>
                  <a:schemeClr val="tx1"/>
                </a:solidFill>
              </a:rPr>
              <a:t>parts of the food available to consumers is wasted</a:t>
            </a:r>
            <a:endParaRPr lang="en-US" sz="1500" dirty="0"/>
          </a:p>
        </p:txBody>
      </p:sp>
      <p:sp>
        <p:nvSpPr>
          <p:cNvPr id="9" name="problem stat 3"/>
          <p:cNvSpPr/>
          <p:nvPr/>
        </p:nvSpPr>
        <p:spPr>
          <a:xfrm>
            <a:off x="548640" y="4434840"/>
            <a:ext cx="5120640" cy="1280160"/>
          </a:xfrm>
          <a:prstGeom prst="roundRect">
            <a:avLst>
              <a:gd name="adj" fmla="val 8571"/>
            </a:avLst>
          </a:prstGeom>
          <a:solidFill>
            <a:schemeClr val="bg2"/>
          </a:solidFill>
          <a:ln/>
          <a:effectLst>
            <a:outerShdw sx="100000" sy="100000" kx="0" ky="0" algn="bl" rotWithShape="0" blurRad="76200" dist="25400" dir="5400000">
              <a:srgbClr val="1B2E1F">
                <a:alpha val="12000"/>
              </a:srgbClr>
            </a:outerShdw>
          </a:effectLst>
        </p:spPr>
      </p:sp>
      <p:sp>
        <p:nvSpPr>
          <p:cNvPr id="10" name="Text 8"/>
          <p:cNvSpPr txBox="1"/>
          <p:nvPr/>
        </p:nvSpPr>
        <p:spPr>
          <a:xfrm>
            <a:off x="822960" y="4599432"/>
            <a:ext cx="2194560" cy="914400"/>
          </a:xfrm>
          <a:prstGeom prst="rect">
            <a:avLst/>
          </a:prstGeom>
          <a:noFill/>
          <a:ln/>
        </p:spPr>
        <p:txBody>
          <a:bodyPr wrap="square" lIns="0" tIns="0" rIns="0" bIns="0" rtlCol="0" anchor="ctr"/>
          <a:lstStyle/>
          <a:p>
            <a:pPr indent="0" marL="0">
              <a:buNone/>
            </a:pPr>
            <a:r>
              <a:rPr lang="en-US" sz="4000" b="1" dirty="0">
                <a:solidFill>
                  <a:schemeClr val="accent6"/>
                </a:solidFill>
                <a:latin typeface="Cambria" pitchFamily="34" charset="0"/>
                <a:ea typeface="Cambria" pitchFamily="34" charset="-122"/>
                <a:cs typeface="Cambria" pitchFamily="34" charset="-120"/>
              </a:rPr>
              <a:t>783 M</a:t>
            </a:r>
            <a:endParaRPr lang="en-US" sz="4000" dirty="0"/>
          </a:p>
        </p:txBody>
      </p:sp>
      <p:sp>
        <p:nvSpPr>
          <p:cNvPr id="11" name="Text 9"/>
          <p:cNvSpPr txBox="1"/>
          <p:nvPr/>
        </p:nvSpPr>
        <p:spPr>
          <a:xfrm>
            <a:off x="3017520" y="4599432"/>
            <a:ext cx="2468880" cy="914400"/>
          </a:xfrm>
          <a:prstGeom prst="rect">
            <a:avLst/>
          </a:prstGeom>
          <a:noFill/>
          <a:ln/>
        </p:spPr>
        <p:txBody>
          <a:bodyPr wrap="square" lIns="0" tIns="0" rIns="0" bIns="0" rtlCol="0" anchor="ctr"/>
          <a:lstStyle/>
          <a:p>
            <a:pPr indent="0" marL="0">
              <a:buNone/>
            </a:pPr>
            <a:r>
              <a:rPr lang="en-US" sz="1500" dirty="0">
                <a:solidFill>
                  <a:schemeClr val="tx1"/>
                </a:solidFill>
              </a:rPr>
              <a:t>people affected by hunger</a:t>
            </a:r>
            <a:endParaRPr lang="en-US" sz="1500" dirty="0"/>
          </a:p>
        </p:txBody>
      </p:sp>
      <p:graphicFrame>
        <p:nvGraphicFramePr>
          <p:cNvPr id="12" name="waste share chart" descr=""/>
          <p:cNvGraphicFramePr/>
          <p:nvPr/>
        </p:nvGraphicFramePr>
        <p:xfrm>
          <a:off x="6126480" y="1325880"/>
          <a:ext cx="5486400" cy="3931920"/>
        </p:xfrm>
        <a:graphic xmlns:a="http://schemas.openxmlformats.org/drawingml/2006/main">
          <a:graphicData uri="http://schemas.openxmlformats.org/drawingml/2006/chart">
            <c:chart xmlns:c="http://schemas.openxmlformats.org/drawingml/2006/chart" r:id="rId1"/>
          </a:graphicData>
        </a:graphic>
      </p:graphicFrame>
      <p:sp>
        <p:nvSpPr>
          <p:cNvPr id="13" name="focus callout"/>
          <p:cNvSpPr/>
          <p:nvPr/>
        </p:nvSpPr>
        <p:spPr>
          <a:xfrm>
            <a:off x="6309360" y="5349240"/>
            <a:ext cx="5212080" cy="822960"/>
          </a:xfrm>
          <a:prstGeom prst="roundRect">
            <a:avLst>
              <a:gd name="adj" fmla="val 13333"/>
            </a:avLst>
          </a:prstGeom>
          <a:solidFill>
            <a:schemeClr val="accent2"/>
          </a:solidFill>
          <a:ln/>
          <a:effectLst>
            <a:outerShdw sx="100000" sy="100000" kx="0" ky="0" algn="bl" rotWithShape="0" blurRad="76200" dist="25400" dir="5400000">
              <a:srgbClr val="1B2E1F">
                <a:alpha val="12000"/>
              </a:srgbClr>
            </a:outerShdw>
          </a:effectLst>
        </p:spPr>
      </p:sp>
      <p:sp>
        <p:nvSpPr>
          <p:cNvPr id="14" name="Text 11"/>
          <p:cNvSpPr txBox="1"/>
          <p:nvPr/>
        </p:nvSpPr>
        <p:spPr>
          <a:xfrm>
            <a:off x="6492240" y="5394960"/>
            <a:ext cx="4846320" cy="731520"/>
          </a:xfrm>
          <a:prstGeom prst="rect">
            <a:avLst/>
          </a:prstGeom>
          <a:noFill/>
          <a:ln/>
        </p:spPr>
        <p:txBody>
          <a:bodyPr wrap="square" lIns="0" tIns="0" rIns="0" bIns="0" rtlCol="0" anchor="ctr"/>
          <a:lstStyle/>
          <a:p>
            <a:pPr indent="0" marL="0">
              <a:buNone/>
            </a:pPr>
            <a:r>
              <a:rPr lang="en-US" sz="1500" b="1" dirty="0">
                <a:solidFill>
                  <a:schemeClr val="bg1"/>
                </a:solidFill>
              </a:rPr>
              <a:t>Restaurants and shops produce 40% of food waste — that is where FoodSphere AI acts</a:t>
            </a:r>
            <a:endParaRPr lang="en-US" sz="1500" dirty="0"/>
          </a:p>
        </p:txBody>
      </p:sp>
      <p:sp>
        <p:nvSpPr>
          <p:cNvPr id="15" name="Text 12"/>
          <p:cNvSpPr txBox="1"/>
          <p:nvPr/>
        </p:nvSpPr>
        <p:spPr>
          <a:xfrm>
            <a:off x="548640" y="6080760"/>
            <a:ext cx="5120640" cy="274320"/>
          </a:xfrm>
          <a:prstGeom prst="rect">
            <a:avLst/>
          </a:prstGeom>
          <a:noFill/>
          <a:ln/>
        </p:spPr>
        <p:txBody>
          <a:bodyPr wrap="square" lIns="0" tIns="0" rIns="0" bIns="0" rtlCol="0" anchor="ctr"/>
          <a:lstStyle/>
          <a:p>
            <a:pPr indent="0" marL="0">
              <a:buNone/>
            </a:pPr>
            <a:r>
              <a:rPr lang="en-US" sz="1000" i="1" dirty="0">
                <a:solidFill>
                  <a:schemeClr val="accent5"/>
                </a:solidFill>
              </a:rPr>
              <a:t>Source: UNEP Food Waste Index Report 2024</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Our solution: predict, donate, match, deliver</a:t>
            </a:r>
            <a:endParaRPr lang="en-US" sz="3400" dirty="0"/>
          </a:p>
        </p:txBody>
      </p:sp>
      <p:sp>
        <p:nvSpPr>
          <p:cNvPr id="3" name="step card 1"/>
          <p:cNvSpPr/>
          <p:nvPr/>
        </p:nvSpPr>
        <p:spPr>
          <a:xfrm>
            <a:off x="548640" y="1554480"/>
            <a:ext cx="2514600" cy="3566160"/>
          </a:xfrm>
          <a:prstGeom prst="roundRect">
            <a:avLst>
              <a:gd name="adj" fmla="val 4364"/>
            </a:avLst>
          </a:prstGeom>
          <a:solidFill>
            <a:schemeClr val="bg2"/>
          </a:solidFill>
          <a:ln/>
          <a:effectLst>
            <a:outerShdw sx="100000" sy="100000" kx="0" ky="0" algn="bl" rotWithShape="0" blurRad="76200" dist="25400" dir="5400000">
              <a:srgbClr val="1B2E1F">
                <a:alpha val="12000"/>
              </a:srgbClr>
            </a:outerShdw>
          </a:effectLst>
        </p:spPr>
      </p:sp>
      <p:sp>
        <p:nvSpPr>
          <p:cNvPr id="4" name="step 1 circle"/>
          <p:cNvSpPr/>
          <p:nvPr/>
        </p:nvSpPr>
        <p:spPr>
          <a:xfrm>
            <a:off x="1325880" y="1783080"/>
            <a:ext cx="960120" cy="960120"/>
          </a:xfrm>
          <a:prstGeom prst="ellipse">
            <a:avLst/>
          </a:prstGeom>
          <a:solidFill>
            <a:schemeClr val="accent1"/>
          </a:solidFill>
          <a:ln/>
        </p:spPr>
      </p:sp>
      <p:pic>
        <p:nvPicPr>
          <p:cNvPr id="5" name="step 1 icon" descr="preencoded.png">    </p:cNvPr>
          <p:cNvPicPr>
            <a:picLocks noChangeAspect="1"/>
          </p:cNvPicPr>
          <p:nvPr/>
        </p:nvPicPr>
        <p:blipFill>
          <a:blip r:embed="rId1"/>
          <a:stretch>
            <a:fillRect/>
          </a:stretch>
        </p:blipFill>
        <p:spPr>
          <a:xfrm>
            <a:off x="1565910" y="2023110"/>
            <a:ext cx="480060" cy="480060"/>
          </a:xfrm>
          <a:prstGeom prst="rect">
            <a:avLst/>
          </a:prstGeom>
        </p:spPr>
      </p:pic>
      <p:sp>
        <p:nvSpPr>
          <p:cNvPr id="6" name="Text 3"/>
          <p:cNvSpPr txBox="1"/>
          <p:nvPr/>
        </p:nvSpPr>
        <p:spPr>
          <a:xfrm>
            <a:off x="777240" y="2880360"/>
            <a:ext cx="205740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1. Predict</a:t>
            </a:r>
            <a:endParaRPr lang="en-US" sz="2200" dirty="0"/>
          </a:p>
        </p:txBody>
      </p:sp>
      <p:sp>
        <p:nvSpPr>
          <p:cNvPr id="7" name="Text 4"/>
          <p:cNvSpPr txBox="1"/>
          <p:nvPr/>
        </p:nvSpPr>
        <p:spPr>
          <a:xfrm>
            <a:off x="777240" y="3383280"/>
            <a:ext cx="2057400" cy="1280160"/>
          </a:xfrm>
          <a:prstGeom prst="rect">
            <a:avLst/>
          </a:prstGeom>
          <a:noFill/>
          <a:ln/>
        </p:spPr>
        <p:txBody>
          <a:bodyPr wrap="square" lIns="0" tIns="0" rIns="0" bIns="0" rtlCol="0" anchor="t"/>
          <a:lstStyle/>
          <a:p>
            <a:pPr algn="ctr" indent="0" marL="0">
              <a:buNone/>
            </a:pPr>
            <a:r>
              <a:rPr lang="en-US" sz="1400" dirty="0">
                <a:solidFill>
                  <a:schemeClr val="tx1"/>
                </a:solidFill>
              </a:rPr>
              <a:t>Every morning, AI 1 estimates how much food will be left over and the waste risk</a:t>
            </a:r>
            <a:endParaRPr lang="en-US" sz="1400" dirty="0"/>
          </a:p>
        </p:txBody>
      </p:sp>
      <p:sp>
        <p:nvSpPr>
          <p:cNvPr id="8" name="AI badge 1"/>
          <p:cNvSpPr/>
          <p:nvPr/>
        </p:nvSpPr>
        <p:spPr>
          <a:xfrm>
            <a:off x="1234440" y="4617720"/>
            <a:ext cx="1143000" cy="320040"/>
          </a:xfrm>
          <a:prstGeom prst="roundRect">
            <a:avLst>
              <a:gd name="adj" fmla="val 22857"/>
            </a:avLst>
          </a:prstGeom>
          <a:solidFill>
            <a:schemeClr val="accent1"/>
          </a:solidFill>
          <a:ln/>
        </p:spPr>
      </p:sp>
      <p:sp>
        <p:nvSpPr>
          <p:cNvPr id="9" name="Text 6"/>
          <p:cNvSpPr txBox="1"/>
          <p:nvPr/>
        </p:nvSpPr>
        <p:spPr>
          <a:xfrm>
            <a:off x="1234440" y="4617720"/>
            <a:ext cx="1143000" cy="320040"/>
          </a:xfrm>
          <a:prstGeom prst="rect">
            <a:avLst/>
          </a:prstGeom>
          <a:noFill/>
          <a:ln/>
        </p:spPr>
        <p:txBody>
          <a:bodyPr wrap="square" lIns="0" tIns="0" rIns="0" bIns="0" rtlCol="0" anchor="ctr"/>
          <a:lstStyle/>
          <a:p>
            <a:pPr algn="ctr" indent="0" marL="0">
              <a:buNone/>
            </a:pPr>
            <a:r>
              <a:rPr lang="en-US" sz="1100" b="1" dirty="0">
                <a:solidFill>
                  <a:schemeClr val="bg1"/>
                </a:solidFill>
              </a:rPr>
              <a:t>AI MODEL 1</a:t>
            </a:r>
            <a:endParaRPr lang="en-US" sz="1100" dirty="0"/>
          </a:p>
        </p:txBody>
      </p:sp>
      <p:sp>
        <p:nvSpPr>
          <p:cNvPr id="10" name="flow arrow 1"/>
          <p:cNvSpPr/>
          <p:nvPr/>
        </p:nvSpPr>
        <p:spPr>
          <a:xfrm>
            <a:off x="3108960" y="3108960"/>
            <a:ext cx="228600" cy="365760"/>
          </a:xfrm>
          <a:prstGeom prst="rightArrow">
            <a:avLst/>
          </a:prstGeom>
          <a:solidFill>
            <a:schemeClr val="accent5"/>
          </a:solidFill>
          <a:ln/>
        </p:spPr>
      </p:sp>
      <p:sp>
        <p:nvSpPr>
          <p:cNvPr id="11" name="step card 2"/>
          <p:cNvSpPr/>
          <p:nvPr/>
        </p:nvSpPr>
        <p:spPr>
          <a:xfrm>
            <a:off x="3383280" y="1554480"/>
            <a:ext cx="2514600" cy="3566160"/>
          </a:xfrm>
          <a:prstGeom prst="roundRect">
            <a:avLst>
              <a:gd name="adj" fmla="val 4364"/>
            </a:avLst>
          </a:prstGeom>
          <a:solidFill>
            <a:schemeClr val="bg2"/>
          </a:solidFill>
          <a:ln/>
          <a:effectLst>
            <a:outerShdw sx="100000" sy="100000" kx="0" ky="0" algn="bl" rotWithShape="0" blurRad="76200" dist="25400" dir="5400000">
              <a:srgbClr val="1B2E1F">
                <a:alpha val="12000"/>
              </a:srgbClr>
            </a:outerShdw>
          </a:effectLst>
        </p:spPr>
      </p:sp>
      <p:sp>
        <p:nvSpPr>
          <p:cNvPr id="12" name="step 2 circle"/>
          <p:cNvSpPr/>
          <p:nvPr/>
        </p:nvSpPr>
        <p:spPr>
          <a:xfrm>
            <a:off x="4160520" y="1783080"/>
            <a:ext cx="960120" cy="960120"/>
          </a:xfrm>
          <a:prstGeom prst="ellipse">
            <a:avLst/>
          </a:prstGeom>
          <a:solidFill>
            <a:schemeClr val="accent3"/>
          </a:solidFill>
          <a:ln/>
        </p:spPr>
      </p:sp>
      <p:pic>
        <p:nvPicPr>
          <p:cNvPr id="13" name="step 2 icon" descr="preencoded.png">    </p:cNvPr>
          <p:cNvPicPr>
            <a:picLocks noChangeAspect="1"/>
          </p:cNvPicPr>
          <p:nvPr/>
        </p:nvPicPr>
        <p:blipFill>
          <a:blip r:embed="rId2"/>
          <a:stretch>
            <a:fillRect/>
          </a:stretch>
        </p:blipFill>
        <p:spPr>
          <a:xfrm>
            <a:off x="4400550" y="2023110"/>
            <a:ext cx="480060" cy="480060"/>
          </a:xfrm>
          <a:prstGeom prst="rect">
            <a:avLst/>
          </a:prstGeom>
        </p:spPr>
      </p:pic>
      <p:sp>
        <p:nvSpPr>
          <p:cNvPr id="14" name="Text 10"/>
          <p:cNvSpPr txBox="1"/>
          <p:nvPr/>
        </p:nvSpPr>
        <p:spPr>
          <a:xfrm>
            <a:off x="3611880" y="2880360"/>
            <a:ext cx="205740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2. Donate</a:t>
            </a:r>
            <a:endParaRPr lang="en-US" sz="2200" dirty="0"/>
          </a:p>
        </p:txBody>
      </p:sp>
      <p:sp>
        <p:nvSpPr>
          <p:cNvPr id="15" name="Text 11"/>
          <p:cNvSpPr txBox="1"/>
          <p:nvPr/>
        </p:nvSpPr>
        <p:spPr>
          <a:xfrm>
            <a:off x="3611880" y="3383280"/>
            <a:ext cx="2057400" cy="1280160"/>
          </a:xfrm>
          <a:prstGeom prst="rect">
            <a:avLst/>
          </a:prstGeom>
          <a:noFill/>
          <a:ln/>
        </p:spPr>
        <p:txBody>
          <a:bodyPr wrap="square" lIns="0" tIns="0" rIns="0" bIns="0" rtlCol="0" anchor="t"/>
          <a:lstStyle/>
          <a:p>
            <a:pPr algn="ctr" indent="0" marL="0">
              <a:buNone/>
            </a:pPr>
            <a:r>
              <a:rPr lang="en-US" sz="1400" dirty="0">
                <a:solidFill>
                  <a:schemeClr val="tx1"/>
                </a:solidFill>
              </a:rPr>
              <a:t>The business turns the expected surplus into a donation in one click</a:t>
            </a:r>
            <a:endParaRPr lang="en-US" sz="1400" dirty="0"/>
          </a:p>
        </p:txBody>
      </p:sp>
      <p:sp>
        <p:nvSpPr>
          <p:cNvPr id="16" name="flow arrow 2"/>
          <p:cNvSpPr/>
          <p:nvPr/>
        </p:nvSpPr>
        <p:spPr>
          <a:xfrm>
            <a:off x="5943600" y="3108960"/>
            <a:ext cx="228600" cy="365760"/>
          </a:xfrm>
          <a:prstGeom prst="rightArrow">
            <a:avLst/>
          </a:prstGeom>
          <a:solidFill>
            <a:schemeClr val="accent5"/>
          </a:solidFill>
          <a:ln/>
        </p:spPr>
      </p:sp>
      <p:sp>
        <p:nvSpPr>
          <p:cNvPr id="17" name="step card 3"/>
          <p:cNvSpPr/>
          <p:nvPr/>
        </p:nvSpPr>
        <p:spPr>
          <a:xfrm>
            <a:off x="6217920" y="1554480"/>
            <a:ext cx="2514600" cy="3566160"/>
          </a:xfrm>
          <a:prstGeom prst="roundRect">
            <a:avLst>
              <a:gd name="adj" fmla="val 4364"/>
            </a:avLst>
          </a:prstGeom>
          <a:solidFill>
            <a:schemeClr val="bg2"/>
          </a:solidFill>
          <a:ln/>
          <a:effectLst>
            <a:outerShdw sx="100000" sy="100000" kx="0" ky="0" algn="bl" rotWithShape="0" blurRad="76200" dist="25400" dir="5400000">
              <a:srgbClr val="1B2E1F">
                <a:alpha val="12000"/>
              </a:srgbClr>
            </a:outerShdw>
          </a:effectLst>
        </p:spPr>
      </p:sp>
      <p:sp>
        <p:nvSpPr>
          <p:cNvPr id="18" name="step 3 circle"/>
          <p:cNvSpPr/>
          <p:nvPr/>
        </p:nvSpPr>
        <p:spPr>
          <a:xfrm>
            <a:off x="6995160" y="1783080"/>
            <a:ext cx="960120" cy="960120"/>
          </a:xfrm>
          <a:prstGeom prst="ellipse">
            <a:avLst/>
          </a:prstGeom>
          <a:solidFill>
            <a:schemeClr val="accent1"/>
          </a:solidFill>
          <a:ln/>
        </p:spPr>
      </p:sp>
      <p:pic>
        <p:nvPicPr>
          <p:cNvPr id="19" name="step 3 icon" descr="preencoded.png">    </p:cNvPr>
          <p:cNvPicPr>
            <a:picLocks noChangeAspect="1"/>
          </p:cNvPicPr>
          <p:nvPr/>
        </p:nvPicPr>
        <p:blipFill>
          <a:blip r:embed="rId3"/>
          <a:stretch>
            <a:fillRect/>
          </a:stretch>
        </p:blipFill>
        <p:spPr>
          <a:xfrm>
            <a:off x="7235190" y="2023110"/>
            <a:ext cx="480060" cy="480060"/>
          </a:xfrm>
          <a:prstGeom prst="rect">
            <a:avLst/>
          </a:prstGeom>
        </p:spPr>
      </p:pic>
      <p:sp>
        <p:nvSpPr>
          <p:cNvPr id="20" name="Text 15"/>
          <p:cNvSpPr txBox="1"/>
          <p:nvPr/>
        </p:nvSpPr>
        <p:spPr>
          <a:xfrm>
            <a:off x="6446520" y="2880360"/>
            <a:ext cx="205740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3. Match</a:t>
            </a:r>
            <a:endParaRPr lang="en-US" sz="2200" dirty="0"/>
          </a:p>
        </p:txBody>
      </p:sp>
      <p:sp>
        <p:nvSpPr>
          <p:cNvPr id="21" name="Text 16"/>
          <p:cNvSpPr txBox="1"/>
          <p:nvPr/>
        </p:nvSpPr>
        <p:spPr>
          <a:xfrm>
            <a:off x="6446520" y="3383280"/>
            <a:ext cx="2057400" cy="1280160"/>
          </a:xfrm>
          <a:prstGeom prst="rect">
            <a:avLst/>
          </a:prstGeom>
          <a:noFill/>
          <a:ln/>
        </p:spPr>
        <p:txBody>
          <a:bodyPr wrap="square" lIns="0" tIns="0" rIns="0" bIns="0" rtlCol="0" anchor="t"/>
          <a:lstStyle/>
          <a:p>
            <a:pPr algn="ctr" indent="0" marL="0">
              <a:buNone/>
            </a:pPr>
            <a:r>
              <a:rPr lang="en-US" sz="1400" dirty="0">
                <a:solidFill>
                  <a:schemeClr val="tx1"/>
                </a:solidFill>
              </a:rPr>
              <a:t>AI 2 ranks safe organizations by their chance of a successful delivery</a:t>
            </a:r>
            <a:endParaRPr lang="en-US" sz="1400" dirty="0"/>
          </a:p>
        </p:txBody>
      </p:sp>
      <p:sp>
        <p:nvSpPr>
          <p:cNvPr id="22" name="AI badge 3"/>
          <p:cNvSpPr/>
          <p:nvPr/>
        </p:nvSpPr>
        <p:spPr>
          <a:xfrm>
            <a:off x="6903720" y="4617720"/>
            <a:ext cx="1143000" cy="320040"/>
          </a:xfrm>
          <a:prstGeom prst="roundRect">
            <a:avLst>
              <a:gd name="adj" fmla="val 22857"/>
            </a:avLst>
          </a:prstGeom>
          <a:solidFill>
            <a:schemeClr val="accent1"/>
          </a:solidFill>
          <a:ln/>
        </p:spPr>
      </p:sp>
      <p:sp>
        <p:nvSpPr>
          <p:cNvPr id="23" name="Text 18"/>
          <p:cNvSpPr txBox="1"/>
          <p:nvPr/>
        </p:nvSpPr>
        <p:spPr>
          <a:xfrm>
            <a:off x="6903720" y="4617720"/>
            <a:ext cx="1143000" cy="320040"/>
          </a:xfrm>
          <a:prstGeom prst="rect">
            <a:avLst/>
          </a:prstGeom>
          <a:noFill/>
          <a:ln/>
        </p:spPr>
        <p:txBody>
          <a:bodyPr wrap="square" lIns="0" tIns="0" rIns="0" bIns="0" rtlCol="0" anchor="ctr"/>
          <a:lstStyle/>
          <a:p>
            <a:pPr algn="ctr" indent="0" marL="0">
              <a:buNone/>
            </a:pPr>
            <a:r>
              <a:rPr lang="en-US" sz="1100" b="1" dirty="0">
                <a:solidFill>
                  <a:schemeClr val="bg1"/>
                </a:solidFill>
              </a:rPr>
              <a:t>AI MODEL 2</a:t>
            </a:r>
            <a:endParaRPr lang="en-US" sz="1100" dirty="0"/>
          </a:p>
        </p:txBody>
      </p:sp>
      <p:sp>
        <p:nvSpPr>
          <p:cNvPr id="24" name="flow arrow 3"/>
          <p:cNvSpPr/>
          <p:nvPr/>
        </p:nvSpPr>
        <p:spPr>
          <a:xfrm>
            <a:off x="8778240" y="3108960"/>
            <a:ext cx="228600" cy="365760"/>
          </a:xfrm>
          <a:prstGeom prst="rightArrow">
            <a:avLst/>
          </a:prstGeom>
          <a:solidFill>
            <a:schemeClr val="accent5"/>
          </a:solidFill>
          <a:ln/>
        </p:spPr>
      </p:sp>
      <p:sp>
        <p:nvSpPr>
          <p:cNvPr id="25" name="step card 4"/>
          <p:cNvSpPr/>
          <p:nvPr/>
        </p:nvSpPr>
        <p:spPr>
          <a:xfrm>
            <a:off x="9052560" y="1554480"/>
            <a:ext cx="2514600" cy="3566160"/>
          </a:xfrm>
          <a:prstGeom prst="roundRect">
            <a:avLst>
              <a:gd name="adj" fmla="val 4364"/>
            </a:avLst>
          </a:prstGeom>
          <a:solidFill>
            <a:schemeClr val="bg2"/>
          </a:solidFill>
          <a:ln/>
          <a:effectLst>
            <a:outerShdw sx="100000" sy="100000" kx="0" ky="0" algn="bl" rotWithShape="0" blurRad="76200" dist="25400" dir="5400000">
              <a:srgbClr val="1B2E1F">
                <a:alpha val="12000"/>
              </a:srgbClr>
            </a:outerShdw>
          </a:effectLst>
        </p:spPr>
      </p:sp>
      <p:sp>
        <p:nvSpPr>
          <p:cNvPr id="26" name="step 4 circle"/>
          <p:cNvSpPr/>
          <p:nvPr/>
        </p:nvSpPr>
        <p:spPr>
          <a:xfrm>
            <a:off x="9829800" y="1783080"/>
            <a:ext cx="960120" cy="960120"/>
          </a:xfrm>
          <a:prstGeom prst="ellipse">
            <a:avLst/>
          </a:prstGeom>
          <a:solidFill>
            <a:schemeClr val="accent2"/>
          </a:solidFill>
          <a:ln/>
        </p:spPr>
      </p:sp>
      <p:pic>
        <p:nvPicPr>
          <p:cNvPr id="27" name="step 4 icon" descr="preencoded.png">    </p:cNvPr>
          <p:cNvPicPr>
            <a:picLocks noChangeAspect="1"/>
          </p:cNvPicPr>
          <p:nvPr/>
        </p:nvPicPr>
        <p:blipFill>
          <a:blip r:embed="rId4"/>
          <a:stretch>
            <a:fillRect/>
          </a:stretch>
        </p:blipFill>
        <p:spPr>
          <a:xfrm>
            <a:off x="10069830" y="2023110"/>
            <a:ext cx="480060" cy="480060"/>
          </a:xfrm>
          <a:prstGeom prst="rect">
            <a:avLst/>
          </a:prstGeom>
        </p:spPr>
      </p:pic>
      <p:sp>
        <p:nvSpPr>
          <p:cNvPr id="28" name="Text 22"/>
          <p:cNvSpPr txBox="1"/>
          <p:nvPr/>
        </p:nvSpPr>
        <p:spPr>
          <a:xfrm>
            <a:off x="9281160" y="2880360"/>
            <a:ext cx="205740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4. Deliver</a:t>
            </a:r>
            <a:endParaRPr lang="en-US" sz="2200" dirty="0"/>
          </a:p>
        </p:txBody>
      </p:sp>
      <p:sp>
        <p:nvSpPr>
          <p:cNvPr id="29" name="Text 23"/>
          <p:cNvSpPr txBox="1"/>
          <p:nvPr/>
        </p:nvSpPr>
        <p:spPr>
          <a:xfrm>
            <a:off x="9281160" y="3383280"/>
            <a:ext cx="2057400" cy="1280160"/>
          </a:xfrm>
          <a:prstGeom prst="rect">
            <a:avLst/>
          </a:prstGeom>
          <a:noFill/>
          <a:ln/>
        </p:spPr>
        <p:txBody>
          <a:bodyPr wrap="square" lIns="0" tIns="0" rIns="0" bIns="0" rtlCol="0" anchor="t"/>
          <a:lstStyle/>
          <a:p>
            <a:pPr algn="ctr" indent="0" marL="0">
              <a:buNone/>
            </a:pPr>
            <a:r>
              <a:rPr lang="en-US" sz="1400" dirty="0">
                <a:solidFill>
                  <a:schemeClr val="tx1"/>
                </a:solidFill>
              </a:rPr>
              <a:t>A volunteer picks up the food, the receiver confirms, impact is tracked</a:t>
            </a:r>
            <a:endParaRPr lang="en-US" sz="1400" dirty="0"/>
          </a:p>
        </p:txBody>
      </p:sp>
      <p:sp>
        <p:nvSpPr>
          <p:cNvPr id="30" name="Text 24"/>
          <p:cNvSpPr txBox="1"/>
          <p:nvPr/>
        </p:nvSpPr>
        <p:spPr>
          <a:xfrm>
            <a:off x="548640" y="5486400"/>
            <a:ext cx="11064240" cy="548640"/>
          </a:xfrm>
          <a:prstGeom prst="rect">
            <a:avLst/>
          </a:prstGeom>
          <a:noFill/>
          <a:ln/>
        </p:spPr>
        <p:txBody>
          <a:bodyPr wrap="square" lIns="0" tIns="0" rIns="0" bIns="0" rtlCol="0" anchor="ctr"/>
          <a:lstStyle/>
          <a:p>
            <a:pPr indent="0" marL="0">
              <a:buNone/>
            </a:pPr>
            <a:r>
              <a:rPr lang="en-US" sz="1600" b="1" dirty="0">
                <a:solidFill>
                  <a:schemeClr val="accent1"/>
                </a:solidFill>
              </a:rPr>
              <a:t>Result: </a:t>
            </a:r>
            <a:pPr indent="0" marL="0">
              <a:buNone/>
            </a:pPr>
            <a:r>
              <a:rPr lang="en-US" sz="1600" dirty="0">
                <a:solidFill>
                  <a:schemeClr val="tx1"/>
                </a:solidFill>
              </a:rPr>
              <a:t>businesses buy and cook closer to real demand, and unavoidable surplus reaches people before it spoils.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One platform, four types of users</a:t>
            </a:r>
            <a:endParaRPr lang="en-US" sz="3400" dirty="0"/>
          </a:p>
        </p:txBody>
      </p:sp>
      <p:sp>
        <p:nvSpPr>
          <p:cNvPr id="3" name="role card 1"/>
          <p:cNvSpPr/>
          <p:nvPr/>
        </p:nvSpPr>
        <p:spPr>
          <a:xfrm>
            <a:off x="548640" y="1417320"/>
            <a:ext cx="2606040" cy="4297680"/>
          </a:xfrm>
          <a:prstGeom prst="roundRect">
            <a:avLst>
              <a:gd name="adj" fmla="val 4211"/>
            </a:avLst>
          </a:prstGeom>
          <a:solidFill>
            <a:schemeClr val="bg2"/>
          </a:solidFill>
          <a:ln/>
          <a:effectLst>
            <a:outerShdw sx="100000" sy="100000" kx="0" ky="0" algn="bl" rotWithShape="0" blurRad="76200" dist="25400" dir="5400000">
              <a:srgbClr val="1B2E1F">
                <a:alpha val="12000"/>
              </a:srgbClr>
            </a:outerShdw>
          </a:effectLst>
        </p:spPr>
      </p:sp>
      <p:sp>
        <p:nvSpPr>
          <p:cNvPr id="4" name="role 1 circle"/>
          <p:cNvSpPr/>
          <p:nvPr/>
        </p:nvSpPr>
        <p:spPr>
          <a:xfrm>
            <a:off x="822960" y="1645920"/>
            <a:ext cx="868680" cy="868680"/>
          </a:xfrm>
          <a:prstGeom prst="ellipse">
            <a:avLst/>
          </a:prstGeom>
          <a:solidFill>
            <a:schemeClr val="accent2"/>
          </a:solidFill>
          <a:ln/>
        </p:spPr>
      </p:sp>
      <p:pic>
        <p:nvPicPr>
          <p:cNvPr id="5" name="role 1 icon" descr="preencoded.png">    </p:cNvPr>
          <p:cNvPicPr>
            <a:picLocks noChangeAspect="1"/>
          </p:cNvPicPr>
          <p:nvPr/>
        </p:nvPicPr>
        <p:blipFill>
          <a:blip r:embed="rId1"/>
          <a:stretch>
            <a:fillRect/>
          </a:stretch>
        </p:blipFill>
        <p:spPr>
          <a:xfrm>
            <a:off x="1040130" y="1863090"/>
            <a:ext cx="434340" cy="434340"/>
          </a:xfrm>
          <a:prstGeom prst="rect">
            <a:avLst/>
          </a:prstGeom>
        </p:spPr>
      </p:pic>
      <p:sp>
        <p:nvSpPr>
          <p:cNvPr id="6" name="Text 3"/>
          <p:cNvSpPr txBox="1"/>
          <p:nvPr/>
        </p:nvSpPr>
        <p:spPr>
          <a:xfrm>
            <a:off x="822960" y="2697480"/>
            <a:ext cx="2148840" cy="6858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Restaurants and shops</a:t>
            </a:r>
            <a:endParaRPr lang="en-US" sz="2000" dirty="0"/>
          </a:p>
        </p:txBody>
      </p:sp>
      <p:sp>
        <p:nvSpPr>
          <p:cNvPr id="7" name="Text 4"/>
          <p:cNvSpPr txBox="1"/>
          <p:nvPr/>
        </p:nvSpPr>
        <p:spPr>
          <a:xfrm>
            <a:off x="822960" y="3429000"/>
            <a:ext cx="219456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Get AI leftover forecasts</a:t>
            </a:r>
            <a:endParaRPr lang="en-US" sz="1400" dirty="0"/>
          </a:p>
          <a:p>
            <a:pPr marL="342900" indent="-342900">
              <a:spcAft>
                <a:spcPts val="800"/>
              </a:spcAft>
              <a:buSzPct val="100000"/>
              <a:buChar char="•"/>
            </a:pPr>
            <a:r>
              <a:rPr lang="en-US" sz="1400" dirty="0">
                <a:solidFill>
                  <a:schemeClr val="tx1"/>
                </a:solidFill>
              </a:rPr>
              <a:t>Publish donations in one click</a:t>
            </a:r>
            <a:endParaRPr lang="en-US" sz="1400" dirty="0"/>
          </a:p>
          <a:p>
            <a:pPr marL="342900" indent="-342900">
              <a:spcAft>
                <a:spcPts val="800"/>
              </a:spcAft>
              <a:buSzPct val="100000"/>
              <a:buChar char="•"/>
            </a:pPr>
            <a:r>
              <a:rPr lang="en-US" sz="1400" dirty="0">
                <a:solidFill>
                  <a:schemeClr val="tx1"/>
                </a:solidFill>
              </a:rPr>
              <a:t>Track food saved and waste reduced</a:t>
            </a:r>
            <a:endParaRPr lang="en-US" sz="1400" dirty="0"/>
          </a:p>
        </p:txBody>
      </p:sp>
      <p:sp>
        <p:nvSpPr>
          <p:cNvPr id="8" name="role card 2"/>
          <p:cNvSpPr/>
          <p:nvPr/>
        </p:nvSpPr>
        <p:spPr>
          <a:xfrm>
            <a:off x="3383280" y="1417320"/>
            <a:ext cx="2606040" cy="4297680"/>
          </a:xfrm>
          <a:prstGeom prst="roundRect">
            <a:avLst>
              <a:gd name="adj" fmla="val 4211"/>
            </a:avLst>
          </a:prstGeom>
          <a:solidFill>
            <a:schemeClr val="bg2"/>
          </a:solidFill>
          <a:ln/>
          <a:effectLst>
            <a:outerShdw sx="100000" sy="100000" kx="0" ky="0" algn="bl" rotWithShape="0" blurRad="76200" dist="25400" dir="5400000">
              <a:srgbClr val="1B2E1F">
                <a:alpha val="12000"/>
              </a:srgbClr>
            </a:outerShdw>
          </a:effectLst>
        </p:spPr>
      </p:sp>
      <p:sp>
        <p:nvSpPr>
          <p:cNvPr id="9" name="role 2 circle"/>
          <p:cNvSpPr/>
          <p:nvPr/>
        </p:nvSpPr>
        <p:spPr>
          <a:xfrm>
            <a:off x="3657600" y="1645920"/>
            <a:ext cx="868680" cy="868680"/>
          </a:xfrm>
          <a:prstGeom prst="ellipse">
            <a:avLst/>
          </a:prstGeom>
          <a:solidFill>
            <a:schemeClr val="accent1"/>
          </a:solidFill>
          <a:ln/>
        </p:spPr>
      </p:sp>
      <p:pic>
        <p:nvPicPr>
          <p:cNvPr id="10" name="role 2 icon" descr="preencoded.png">    </p:cNvPr>
          <p:cNvPicPr>
            <a:picLocks noChangeAspect="1"/>
          </p:cNvPicPr>
          <p:nvPr/>
        </p:nvPicPr>
        <p:blipFill>
          <a:blip r:embed="rId2"/>
          <a:stretch>
            <a:fillRect/>
          </a:stretch>
        </p:blipFill>
        <p:spPr>
          <a:xfrm>
            <a:off x="3874770" y="1863090"/>
            <a:ext cx="434340" cy="434340"/>
          </a:xfrm>
          <a:prstGeom prst="rect">
            <a:avLst/>
          </a:prstGeom>
        </p:spPr>
      </p:pic>
      <p:sp>
        <p:nvSpPr>
          <p:cNvPr id="11" name="Text 7"/>
          <p:cNvSpPr txBox="1"/>
          <p:nvPr/>
        </p:nvSpPr>
        <p:spPr>
          <a:xfrm>
            <a:off x="3657600" y="2697480"/>
            <a:ext cx="2148840" cy="6858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Organizations</a:t>
            </a:r>
            <a:endParaRPr lang="en-US" sz="2000" dirty="0"/>
          </a:p>
        </p:txBody>
      </p:sp>
      <p:sp>
        <p:nvSpPr>
          <p:cNvPr id="12" name="Text 8"/>
          <p:cNvSpPr txBox="1"/>
          <p:nvPr/>
        </p:nvSpPr>
        <p:spPr>
          <a:xfrm>
            <a:off x="3657600" y="3429000"/>
            <a:ext cx="219456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NGOs, shelters, food banks</a:t>
            </a:r>
            <a:endParaRPr lang="en-US" sz="1400" dirty="0"/>
          </a:p>
          <a:p>
            <a:pPr marL="342900" indent="-342900">
              <a:spcAft>
                <a:spcPts val="800"/>
              </a:spcAft>
              <a:buSzPct val="100000"/>
              <a:buChar char="•"/>
            </a:pPr>
            <a:r>
              <a:rPr lang="en-US" sz="1400" dirty="0">
                <a:solidFill>
                  <a:schemeClr val="tx1"/>
                </a:solidFill>
              </a:rPr>
              <a:t>See donations ranked for them</a:t>
            </a:r>
            <a:endParaRPr lang="en-US" sz="1400" dirty="0"/>
          </a:p>
          <a:p>
            <a:pPr marL="342900" indent="-342900">
              <a:spcAft>
                <a:spcPts val="800"/>
              </a:spcAft>
              <a:buSzPct val="100000"/>
              <a:buChar char="•"/>
            </a:pPr>
            <a:r>
              <a:rPr lang="en-US" sz="1400" dirty="0">
                <a:solidFill>
                  <a:schemeClr val="tx1"/>
                </a:solidFill>
              </a:rPr>
              <a:t>Request, receive and confirm food</a:t>
            </a:r>
            <a:endParaRPr lang="en-US" sz="1400" dirty="0"/>
          </a:p>
        </p:txBody>
      </p:sp>
      <p:sp>
        <p:nvSpPr>
          <p:cNvPr id="13" name="role card 3"/>
          <p:cNvSpPr/>
          <p:nvPr/>
        </p:nvSpPr>
        <p:spPr>
          <a:xfrm>
            <a:off x="6217920" y="1417320"/>
            <a:ext cx="2606040" cy="4297680"/>
          </a:xfrm>
          <a:prstGeom prst="roundRect">
            <a:avLst>
              <a:gd name="adj" fmla="val 4211"/>
            </a:avLst>
          </a:prstGeom>
          <a:solidFill>
            <a:schemeClr val="bg2"/>
          </a:solidFill>
          <a:ln/>
          <a:effectLst>
            <a:outerShdw sx="100000" sy="100000" kx="0" ky="0" algn="bl" rotWithShape="0" blurRad="76200" dist="25400" dir="5400000">
              <a:srgbClr val="1B2E1F">
                <a:alpha val="12000"/>
              </a:srgbClr>
            </a:outerShdw>
          </a:effectLst>
        </p:spPr>
      </p:sp>
      <p:sp>
        <p:nvSpPr>
          <p:cNvPr id="14" name="role 3 circle"/>
          <p:cNvSpPr/>
          <p:nvPr/>
        </p:nvSpPr>
        <p:spPr>
          <a:xfrm>
            <a:off x="6492240" y="1645920"/>
            <a:ext cx="868680" cy="868680"/>
          </a:xfrm>
          <a:prstGeom prst="ellipse">
            <a:avLst/>
          </a:prstGeom>
          <a:solidFill>
            <a:schemeClr val="accent3"/>
          </a:solidFill>
          <a:ln/>
        </p:spPr>
      </p:sp>
      <p:pic>
        <p:nvPicPr>
          <p:cNvPr id="15" name="role 3 icon" descr="preencoded.png">    </p:cNvPr>
          <p:cNvPicPr>
            <a:picLocks noChangeAspect="1"/>
          </p:cNvPicPr>
          <p:nvPr/>
        </p:nvPicPr>
        <p:blipFill>
          <a:blip r:embed="rId3"/>
          <a:stretch>
            <a:fillRect/>
          </a:stretch>
        </p:blipFill>
        <p:spPr>
          <a:xfrm>
            <a:off x="6709410" y="1863090"/>
            <a:ext cx="434340" cy="434340"/>
          </a:xfrm>
          <a:prstGeom prst="rect">
            <a:avLst/>
          </a:prstGeom>
        </p:spPr>
      </p:pic>
      <p:sp>
        <p:nvSpPr>
          <p:cNvPr id="16" name="Text 11"/>
          <p:cNvSpPr txBox="1"/>
          <p:nvPr/>
        </p:nvSpPr>
        <p:spPr>
          <a:xfrm>
            <a:off x="6492240" y="2697480"/>
            <a:ext cx="2148840" cy="6858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Volunteers</a:t>
            </a:r>
            <a:endParaRPr lang="en-US" sz="2000" dirty="0"/>
          </a:p>
        </p:txBody>
      </p:sp>
      <p:sp>
        <p:nvSpPr>
          <p:cNvPr id="17" name="Text 12"/>
          <p:cNvSpPr txBox="1"/>
          <p:nvPr/>
        </p:nvSpPr>
        <p:spPr>
          <a:xfrm>
            <a:off x="6492240" y="3429000"/>
            <a:ext cx="219456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Claim pickup tasks nearby</a:t>
            </a:r>
            <a:endParaRPr lang="en-US" sz="1400" dirty="0"/>
          </a:p>
          <a:p>
            <a:pPr marL="342900" indent="-342900">
              <a:spcAft>
                <a:spcPts val="800"/>
              </a:spcAft>
              <a:buSzPct val="100000"/>
              <a:buChar char="•"/>
            </a:pPr>
            <a:r>
              <a:rPr lang="en-US" sz="1400" dirty="0">
                <a:solidFill>
                  <a:schemeClr val="tx1"/>
                </a:solidFill>
              </a:rPr>
              <a:t>Confirm pickup and delivery</a:t>
            </a:r>
            <a:endParaRPr lang="en-US" sz="1400" dirty="0"/>
          </a:p>
          <a:p>
            <a:pPr marL="342900" indent="-342900">
              <a:spcAft>
                <a:spcPts val="800"/>
              </a:spcAft>
              <a:buSzPct val="100000"/>
              <a:buChar char="•"/>
            </a:pPr>
            <a:r>
              <a:rPr lang="en-US" sz="1400" dirty="0">
                <a:solidFill>
                  <a:schemeClr val="tx1"/>
                </a:solidFill>
              </a:rPr>
              <a:t>Keep food moving safely</a:t>
            </a:r>
            <a:endParaRPr lang="en-US" sz="1400" dirty="0"/>
          </a:p>
        </p:txBody>
      </p:sp>
      <p:sp>
        <p:nvSpPr>
          <p:cNvPr id="18" name="role card 4"/>
          <p:cNvSpPr/>
          <p:nvPr/>
        </p:nvSpPr>
        <p:spPr>
          <a:xfrm>
            <a:off x="9052560" y="1417320"/>
            <a:ext cx="2606040" cy="4297680"/>
          </a:xfrm>
          <a:prstGeom prst="roundRect">
            <a:avLst>
              <a:gd name="adj" fmla="val 4211"/>
            </a:avLst>
          </a:prstGeom>
          <a:solidFill>
            <a:schemeClr val="bg2"/>
          </a:solidFill>
          <a:ln/>
          <a:effectLst>
            <a:outerShdw sx="100000" sy="100000" kx="0" ky="0" algn="bl" rotWithShape="0" blurRad="76200" dist="25400" dir="5400000">
              <a:srgbClr val="1B2E1F">
                <a:alpha val="12000"/>
              </a:srgbClr>
            </a:outerShdw>
          </a:effectLst>
        </p:spPr>
      </p:sp>
      <p:sp>
        <p:nvSpPr>
          <p:cNvPr id="19" name="role 4 circle"/>
          <p:cNvSpPr/>
          <p:nvPr/>
        </p:nvSpPr>
        <p:spPr>
          <a:xfrm>
            <a:off x="9326880" y="1645920"/>
            <a:ext cx="868680" cy="868680"/>
          </a:xfrm>
          <a:prstGeom prst="ellipse">
            <a:avLst/>
          </a:prstGeom>
          <a:solidFill>
            <a:schemeClr val="tx2"/>
          </a:solidFill>
          <a:ln/>
        </p:spPr>
      </p:sp>
      <p:pic>
        <p:nvPicPr>
          <p:cNvPr id="20" name="role 4 icon" descr="preencoded.png">    </p:cNvPr>
          <p:cNvPicPr>
            <a:picLocks noChangeAspect="1"/>
          </p:cNvPicPr>
          <p:nvPr/>
        </p:nvPicPr>
        <p:blipFill>
          <a:blip r:embed="rId4"/>
          <a:stretch>
            <a:fillRect/>
          </a:stretch>
        </p:blipFill>
        <p:spPr>
          <a:xfrm>
            <a:off x="9544050" y="1863090"/>
            <a:ext cx="434340" cy="434340"/>
          </a:xfrm>
          <a:prstGeom prst="rect">
            <a:avLst/>
          </a:prstGeom>
        </p:spPr>
      </p:pic>
      <p:sp>
        <p:nvSpPr>
          <p:cNvPr id="21" name="Text 15"/>
          <p:cNvSpPr txBox="1"/>
          <p:nvPr/>
        </p:nvSpPr>
        <p:spPr>
          <a:xfrm>
            <a:off x="9326880" y="2697480"/>
            <a:ext cx="2148840" cy="6858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Administrator</a:t>
            </a:r>
            <a:endParaRPr lang="en-US" sz="2000" dirty="0"/>
          </a:p>
        </p:txBody>
      </p:sp>
      <p:sp>
        <p:nvSpPr>
          <p:cNvPr id="22" name="Text 16"/>
          <p:cNvSpPr txBox="1"/>
          <p:nvPr/>
        </p:nvSpPr>
        <p:spPr>
          <a:xfrm>
            <a:off x="9326880" y="3429000"/>
            <a:ext cx="219456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Verify every organization</a:t>
            </a:r>
            <a:endParaRPr lang="en-US" sz="1400" dirty="0"/>
          </a:p>
          <a:p>
            <a:pPr marL="342900" indent="-342900">
              <a:spcAft>
                <a:spcPts val="800"/>
              </a:spcAft>
              <a:buSzPct val="100000"/>
              <a:buChar char="•"/>
            </a:pPr>
            <a:r>
              <a:rPr lang="en-US" sz="1400" dirty="0">
                <a:solidFill>
                  <a:schemeClr val="tx1"/>
                </a:solidFill>
              </a:rPr>
              <a:t>Handle reports and disputes</a:t>
            </a:r>
            <a:endParaRPr lang="en-US" sz="1400" dirty="0"/>
          </a:p>
          <a:p>
            <a:pPr marL="342900" indent="-342900">
              <a:spcAft>
                <a:spcPts val="800"/>
              </a:spcAft>
              <a:buSzPct val="100000"/>
              <a:buChar char="•"/>
            </a:pPr>
            <a:r>
              <a:rPr lang="en-US" sz="1400" dirty="0">
                <a:solidFill>
                  <a:schemeClr val="tx1"/>
                </a:solidFill>
              </a:rPr>
              <a:t>Monitor AI accuracy and audit logs</a:t>
            </a:r>
            <a:endParaRPr lang="en-US" sz="1400" dirty="0"/>
          </a:p>
        </p:txBody>
      </p:sp>
      <p:sp>
        <p:nvSpPr>
          <p:cNvPr id="23" name="Text 17"/>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400" i="1" dirty="0">
                <a:solidFill>
                  <a:schemeClr val="accent5"/>
                </a:solidFill>
              </a:rPr>
              <a:t>Every role sees only what it is allowed to see; every important action is recorded in an audit log.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Two datasets, carefully cleaned before training</a:t>
            </a:r>
            <a:endParaRPr lang="en-US" sz="3400" dirty="0"/>
          </a:p>
        </p:txBody>
      </p:sp>
      <p:sp>
        <p:nvSpPr>
          <p:cNvPr id="3" name="dataset card 1"/>
          <p:cNvSpPr/>
          <p:nvPr/>
        </p:nvSpPr>
        <p:spPr>
          <a:xfrm>
            <a:off x="548640" y="1417320"/>
            <a:ext cx="5394960" cy="2148840"/>
          </a:xfrm>
          <a:prstGeom prst="roundRect">
            <a:avLst>
              <a:gd name="adj" fmla="val 5106"/>
            </a:avLst>
          </a:prstGeom>
          <a:solidFill>
            <a:schemeClr val="bg2"/>
          </a:solidFill>
          <a:ln/>
          <a:effectLst>
            <a:outerShdw sx="100000" sy="100000" kx="0" ky="0" algn="bl" rotWithShape="0" blurRad="76200" dist="25400" dir="5400000">
              <a:srgbClr val="1B2E1F">
                <a:alpha val="12000"/>
              </a:srgbClr>
            </a:outerShdw>
          </a:effectLst>
        </p:spPr>
      </p:sp>
      <p:sp>
        <p:nvSpPr>
          <p:cNvPr id="4" name="dataset 1 circle"/>
          <p:cNvSpPr/>
          <p:nvPr/>
        </p:nvSpPr>
        <p:spPr>
          <a:xfrm>
            <a:off x="777240" y="1691640"/>
            <a:ext cx="777240" cy="777240"/>
          </a:xfrm>
          <a:prstGeom prst="ellipse">
            <a:avLst/>
          </a:prstGeom>
          <a:solidFill>
            <a:schemeClr val="accent1"/>
          </a:solidFill>
          <a:ln/>
        </p:spPr>
      </p:sp>
      <p:pic>
        <p:nvPicPr>
          <p:cNvPr id="5" name="dataset 1 icon" descr="preencoded.png">    </p:cNvPr>
          <p:cNvPicPr>
            <a:picLocks noChangeAspect="1"/>
          </p:cNvPicPr>
          <p:nvPr/>
        </p:nvPicPr>
        <p:blipFill>
          <a:blip r:embed="rId1"/>
          <a:stretch>
            <a:fillRect/>
          </a:stretch>
        </p:blipFill>
        <p:spPr>
          <a:xfrm>
            <a:off x="971550" y="1885950"/>
            <a:ext cx="388620" cy="388620"/>
          </a:xfrm>
          <a:prstGeom prst="rect">
            <a:avLst/>
          </a:prstGeom>
        </p:spPr>
      </p:pic>
      <p:sp>
        <p:nvSpPr>
          <p:cNvPr id="6" name="Text 3"/>
          <p:cNvSpPr txBox="1"/>
          <p:nvPr/>
        </p:nvSpPr>
        <p:spPr>
          <a:xfrm>
            <a:off x="1783080" y="1673352"/>
            <a:ext cx="402336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REAL DATA</a:t>
            </a:r>
            <a:endParaRPr lang="en-US" sz="1100" dirty="0"/>
          </a:p>
        </p:txBody>
      </p:sp>
      <p:sp>
        <p:nvSpPr>
          <p:cNvPr id="7" name="Text 4"/>
          <p:cNvSpPr txBox="1"/>
          <p:nvPr/>
        </p:nvSpPr>
        <p:spPr>
          <a:xfrm>
            <a:off x="1783080" y="1947672"/>
            <a:ext cx="40233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Kaggle Food Waste dataset</a:t>
            </a:r>
            <a:endParaRPr lang="en-US" sz="2000" dirty="0"/>
          </a:p>
        </p:txBody>
      </p:sp>
      <p:sp>
        <p:nvSpPr>
          <p:cNvPr id="8" name="Text 5"/>
          <p:cNvSpPr txBox="1"/>
          <p:nvPr/>
        </p:nvSpPr>
        <p:spPr>
          <a:xfrm>
            <a:off x="1783080" y="2423160"/>
            <a:ext cx="3931920" cy="594360"/>
          </a:xfrm>
          <a:prstGeom prst="rect">
            <a:avLst/>
          </a:prstGeom>
          <a:noFill/>
          <a:ln/>
        </p:spPr>
        <p:txBody>
          <a:bodyPr wrap="square" lIns="0" tIns="0" rIns="0" bIns="0" rtlCol="0" anchor="t"/>
          <a:lstStyle/>
          <a:p>
            <a:pPr indent="0" marL="0">
              <a:buNone/>
            </a:pPr>
            <a:r>
              <a:rPr lang="en-US" sz="1400" dirty="0">
                <a:solidFill>
                  <a:schemeClr val="tx1"/>
                </a:solidFill>
              </a:rPr>
              <a:t>8,000 daily records from 2025 · 4 business types · 6 food categories</a:t>
            </a:r>
            <a:endParaRPr lang="en-US" sz="1400" dirty="0"/>
          </a:p>
        </p:txBody>
      </p:sp>
      <p:sp>
        <p:nvSpPr>
          <p:cNvPr id="9" name="Text 6"/>
          <p:cNvSpPr txBox="1"/>
          <p:nvPr/>
        </p:nvSpPr>
        <p:spPr>
          <a:xfrm>
            <a:off x="1783080" y="3017520"/>
            <a:ext cx="3931920" cy="320040"/>
          </a:xfrm>
          <a:prstGeom prst="rect">
            <a:avLst/>
          </a:prstGeom>
          <a:noFill/>
          <a:ln/>
        </p:spPr>
        <p:txBody>
          <a:bodyPr wrap="square" lIns="0" tIns="0" rIns="0" bIns="0" rtlCol="0" anchor="ctr"/>
          <a:lstStyle/>
          <a:p>
            <a:pPr indent="0" marL="0">
              <a:buNone/>
            </a:pPr>
            <a:r>
              <a:rPr lang="en-US" sz="1400" b="1" dirty="0">
                <a:solidFill>
                  <a:schemeClr val="accent1"/>
                </a:solidFill>
              </a:rPr>
              <a:t>Trains AI 1: leftovers and waste risk</a:t>
            </a:r>
            <a:endParaRPr lang="en-US" sz="1400" dirty="0"/>
          </a:p>
        </p:txBody>
      </p:sp>
      <p:sp>
        <p:nvSpPr>
          <p:cNvPr id="10" name="dataset card 2"/>
          <p:cNvSpPr/>
          <p:nvPr/>
        </p:nvSpPr>
        <p:spPr>
          <a:xfrm>
            <a:off x="548640" y="3794760"/>
            <a:ext cx="5394960" cy="2148840"/>
          </a:xfrm>
          <a:prstGeom prst="roundRect">
            <a:avLst>
              <a:gd name="adj" fmla="val 5106"/>
            </a:avLst>
          </a:prstGeom>
          <a:solidFill>
            <a:schemeClr val="bg2"/>
          </a:solidFill>
          <a:ln/>
          <a:effectLst>
            <a:outerShdw sx="100000" sy="100000" kx="0" ky="0" algn="bl" rotWithShape="0" blurRad="76200" dist="25400" dir="5400000">
              <a:srgbClr val="1B2E1F">
                <a:alpha val="12000"/>
              </a:srgbClr>
            </a:outerShdw>
          </a:effectLst>
        </p:spPr>
      </p:sp>
      <p:sp>
        <p:nvSpPr>
          <p:cNvPr id="11" name="dataset 2 circle"/>
          <p:cNvSpPr/>
          <p:nvPr/>
        </p:nvSpPr>
        <p:spPr>
          <a:xfrm>
            <a:off x="777240" y="4069080"/>
            <a:ext cx="777240" cy="777240"/>
          </a:xfrm>
          <a:prstGeom prst="ellipse">
            <a:avLst/>
          </a:prstGeom>
          <a:solidFill>
            <a:schemeClr val="accent2"/>
          </a:solidFill>
          <a:ln/>
        </p:spPr>
      </p:sp>
      <p:pic>
        <p:nvPicPr>
          <p:cNvPr id="12" name="dataset 2 icon" descr="preencoded.png">    </p:cNvPr>
          <p:cNvPicPr>
            <a:picLocks noChangeAspect="1"/>
          </p:cNvPicPr>
          <p:nvPr/>
        </p:nvPicPr>
        <p:blipFill>
          <a:blip r:embed="rId2"/>
          <a:stretch>
            <a:fillRect/>
          </a:stretch>
        </p:blipFill>
        <p:spPr>
          <a:xfrm>
            <a:off x="971550" y="4263390"/>
            <a:ext cx="388620" cy="388620"/>
          </a:xfrm>
          <a:prstGeom prst="rect">
            <a:avLst/>
          </a:prstGeom>
        </p:spPr>
      </p:pic>
      <p:sp>
        <p:nvSpPr>
          <p:cNvPr id="13" name="Text 9"/>
          <p:cNvSpPr txBox="1"/>
          <p:nvPr/>
        </p:nvSpPr>
        <p:spPr>
          <a:xfrm>
            <a:off x="1783080" y="4050792"/>
            <a:ext cx="402336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SYNTHETIC — CLEARLY LABELLED</a:t>
            </a:r>
            <a:endParaRPr lang="en-US" sz="1100" dirty="0"/>
          </a:p>
        </p:txBody>
      </p:sp>
      <p:sp>
        <p:nvSpPr>
          <p:cNvPr id="14" name="Text 10"/>
          <p:cNvSpPr txBox="1"/>
          <p:nvPr/>
        </p:nvSpPr>
        <p:spPr>
          <a:xfrm>
            <a:off x="1783080" y="4325112"/>
            <a:ext cx="402336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Donation-matching dataset</a:t>
            </a:r>
            <a:endParaRPr lang="en-US" sz="2000" dirty="0"/>
          </a:p>
        </p:txBody>
      </p:sp>
      <p:sp>
        <p:nvSpPr>
          <p:cNvPr id="15" name="Text 11"/>
          <p:cNvSpPr txBox="1"/>
          <p:nvPr/>
        </p:nvSpPr>
        <p:spPr>
          <a:xfrm>
            <a:off x="1783080" y="4800600"/>
            <a:ext cx="3931920" cy="594360"/>
          </a:xfrm>
          <a:prstGeom prst="rect">
            <a:avLst/>
          </a:prstGeom>
          <a:noFill/>
          <a:ln/>
        </p:spPr>
        <p:txBody>
          <a:bodyPr wrap="square" lIns="0" tIns="0" rIns="0" bIns="0" rtlCol="0" anchor="t"/>
          <a:lstStyle/>
          <a:p>
            <a:pPr indent="0" marL="0">
              <a:buNone/>
            </a:pPr>
            <a:r>
              <a:rPr lang="en-US" sz="1400" dirty="0">
                <a:solidFill>
                  <a:schemeClr val="tx1"/>
                </a:solidFill>
              </a:rPr>
              <a:t>12,424 rows → 12,272 after cleaning · 2,500 donations × 60 organizations</a:t>
            </a:r>
            <a:endParaRPr lang="en-US" sz="1400" dirty="0"/>
          </a:p>
        </p:txBody>
      </p:sp>
      <p:sp>
        <p:nvSpPr>
          <p:cNvPr id="16" name="Text 12"/>
          <p:cNvSpPr txBox="1"/>
          <p:nvPr/>
        </p:nvSpPr>
        <p:spPr>
          <a:xfrm>
            <a:off x="1783080" y="5394960"/>
            <a:ext cx="3931920" cy="320040"/>
          </a:xfrm>
          <a:prstGeom prst="rect">
            <a:avLst/>
          </a:prstGeom>
          <a:noFill/>
          <a:ln/>
        </p:spPr>
        <p:txBody>
          <a:bodyPr wrap="square" lIns="0" tIns="0" rIns="0" bIns="0" rtlCol="0" anchor="ctr"/>
          <a:lstStyle/>
          <a:p>
            <a:pPr indent="0" marL="0">
              <a:buNone/>
            </a:pPr>
            <a:r>
              <a:rPr lang="en-US" sz="1400" b="1" dirty="0">
                <a:solidFill>
                  <a:schemeClr val="accent1"/>
                </a:solidFill>
              </a:rPr>
              <a:t>Trains AI 2: chance of a successful delivery</a:t>
            </a:r>
            <a:endParaRPr lang="en-US" sz="1400" dirty="0"/>
          </a:p>
        </p:txBody>
      </p:sp>
      <p:sp>
        <p:nvSpPr>
          <p:cNvPr id="17" name="Text 13"/>
          <p:cNvSpPr txBox="1"/>
          <p:nvPr/>
        </p:nvSpPr>
        <p:spPr>
          <a:xfrm>
            <a:off x="6400800" y="1417320"/>
            <a:ext cx="521208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Preprocessing steps</a:t>
            </a:r>
            <a:endParaRPr lang="en-US" sz="2000" dirty="0"/>
          </a:p>
        </p:txBody>
      </p:sp>
      <p:sp>
        <p:nvSpPr>
          <p:cNvPr id="18" name="step number 1"/>
          <p:cNvSpPr/>
          <p:nvPr/>
        </p:nvSpPr>
        <p:spPr>
          <a:xfrm>
            <a:off x="6400800" y="1965960"/>
            <a:ext cx="438912" cy="438912"/>
          </a:xfrm>
          <a:prstGeom prst="ellipse">
            <a:avLst/>
          </a:prstGeom>
          <a:solidFill>
            <a:schemeClr val="accent1"/>
          </a:solidFill>
          <a:ln/>
        </p:spPr>
      </p:sp>
      <p:sp>
        <p:nvSpPr>
          <p:cNvPr id="19" name="Text 15"/>
          <p:cNvSpPr txBox="1"/>
          <p:nvPr/>
        </p:nvSpPr>
        <p:spPr>
          <a:xfrm>
            <a:off x="6400800" y="19659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0" name="Text 16"/>
          <p:cNvSpPr txBox="1"/>
          <p:nvPr/>
        </p:nvSpPr>
        <p:spPr>
          <a:xfrm>
            <a:off x="6995160" y="1920240"/>
            <a:ext cx="4663440" cy="566928"/>
          </a:xfrm>
          <a:prstGeom prst="rect">
            <a:avLst/>
          </a:prstGeom>
          <a:noFill/>
          <a:ln/>
        </p:spPr>
        <p:txBody>
          <a:bodyPr wrap="square" lIns="0" tIns="0" rIns="0" bIns="0" rtlCol="0" anchor="ctr"/>
          <a:lstStyle/>
          <a:p>
            <a:pPr indent="0" marL="0">
              <a:buNone/>
            </a:pPr>
            <a:r>
              <a:rPr lang="en-US" sz="1500" b="1" dirty="0">
                <a:solidFill>
                  <a:schemeClr val="tx2"/>
                </a:solidFill>
              </a:rPr>
              <a:t>Remove “answer” columns</a:t>
            </a:r>
            <a:endParaRPr lang="en-US" sz="1500" dirty="0"/>
          </a:p>
          <a:p>
            <a:pPr indent="0" marL="0">
              <a:buNone/>
            </a:pPr>
            <a:r>
              <a:rPr lang="en-US" sz="1300" dirty="0">
                <a:solidFill>
                  <a:schemeClr val="accent5"/>
                </a:solidFill>
              </a:rPr>
              <a:t>end-of-day values the model must not see</a:t>
            </a:r>
            <a:endParaRPr lang="en-US" sz="1500" dirty="0"/>
          </a:p>
        </p:txBody>
      </p:sp>
      <p:sp>
        <p:nvSpPr>
          <p:cNvPr id="21" name="step number 2"/>
          <p:cNvSpPr/>
          <p:nvPr/>
        </p:nvSpPr>
        <p:spPr>
          <a:xfrm>
            <a:off x="6400800" y="2651760"/>
            <a:ext cx="438912" cy="438912"/>
          </a:xfrm>
          <a:prstGeom prst="ellipse">
            <a:avLst/>
          </a:prstGeom>
          <a:solidFill>
            <a:schemeClr val="accent1"/>
          </a:solidFill>
          <a:ln/>
        </p:spPr>
      </p:sp>
      <p:sp>
        <p:nvSpPr>
          <p:cNvPr id="22" name="Text 18"/>
          <p:cNvSpPr txBox="1"/>
          <p:nvPr/>
        </p:nvSpPr>
        <p:spPr>
          <a:xfrm>
            <a:off x="6400800" y="26517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3" name="Text 19"/>
          <p:cNvSpPr txBox="1"/>
          <p:nvPr/>
        </p:nvSpPr>
        <p:spPr>
          <a:xfrm>
            <a:off x="6995160" y="2606040"/>
            <a:ext cx="4663440" cy="566928"/>
          </a:xfrm>
          <a:prstGeom prst="rect">
            <a:avLst/>
          </a:prstGeom>
          <a:noFill/>
          <a:ln/>
        </p:spPr>
        <p:txBody>
          <a:bodyPr wrap="square" lIns="0" tIns="0" rIns="0" bIns="0" rtlCol="0" anchor="ctr"/>
          <a:lstStyle/>
          <a:p>
            <a:pPr indent="0" marL="0">
              <a:buNone/>
            </a:pPr>
            <a:r>
              <a:rPr lang="en-US" sz="1500" b="1" dirty="0">
                <a:solidFill>
                  <a:schemeClr val="tx2"/>
                </a:solidFill>
              </a:rPr>
              <a:t>Clean and fix</a:t>
            </a:r>
            <a:endParaRPr lang="en-US" sz="1500" dirty="0"/>
          </a:p>
          <a:p>
            <a:pPr indent="0" marL="0">
              <a:buNone/>
            </a:pPr>
            <a:r>
              <a:rPr lang="en-US" sz="1300" dirty="0">
                <a:solidFill>
                  <a:schemeClr val="accent5"/>
                </a:solidFill>
              </a:rPr>
              <a:t>duplicates, mixed date formats, impossible values</a:t>
            </a:r>
            <a:endParaRPr lang="en-US" sz="1500" dirty="0"/>
          </a:p>
        </p:txBody>
      </p:sp>
      <p:sp>
        <p:nvSpPr>
          <p:cNvPr id="24" name="step number 3"/>
          <p:cNvSpPr/>
          <p:nvPr/>
        </p:nvSpPr>
        <p:spPr>
          <a:xfrm>
            <a:off x="6400800" y="3337560"/>
            <a:ext cx="438912" cy="438912"/>
          </a:xfrm>
          <a:prstGeom prst="ellipse">
            <a:avLst/>
          </a:prstGeom>
          <a:solidFill>
            <a:schemeClr val="accent1"/>
          </a:solidFill>
          <a:ln/>
        </p:spPr>
      </p:sp>
      <p:sp>
        <p:nvSpPr>
          <p:cNvPr id="25" name="Text 21"/>
          <p:cNvSpPr txBox="1"/>
          <p:nvPr/>
        </p:nvSpPr>
        <p:spPr>
          <a:xfrm>
            <a:off x="6400800" y="33375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6" name="Text 22"/>
          <p:cNvSpPr txBox="1"/>
          <p:nvPr/>
        </p:nvSpPr>
        <p:spPr>
          <a:xfrm>
            <a:off x="6995160" y="3291840"/>
            <a:ext cx="4663440" cy="566928"/>
          </a:xfrm>
          <a:prstGeom prst="rect">
            <a:avLst/>
          </a:prstGeom>
          <a:noFill/>
          <a:ln/>
        </p:spPr>
        <p:txBody>
          <a:bodyPr wrap="square" lIns="0" tIns="0" rIns="0" bIns="0" rtlCol="0" anchor="ctr"/>
          <a:lstStyle/>
          <a:p>
            <a:pPr indent="0" marL="0">
              <a:buNone/>
            </a:pPr>
            <a:r>
              <a:rPr lang="en-US" sz="1500" b="1" dirty="0">
                <a:solidFill>
                  <a:schemeClr val="tx2"/>
                </a:solidFill>
              </a:rPr>
              <a:t>Split by date</a:t>
            </a:r>
            <a:endParaRPr lang="en-US" sz="1500" dirty="0"/>
          </a:p>
          <a:p>
            <a:pPr indent="0" marL="0">
              <a:buNone/>
            </a:pPr>
            <a:r>
              <a:rPr lang="en-US" sz="1300" dirty="0">
                <a:solidFill>
                  <a:schemeClr val="accent5"/>
                </a:solidFill>
              </a:rPr>
              <a:t>70% train · 15% validation · 15% test (latest days)</a:t>
            </a:r>
            <a:endParaRPr lang="en-US" sz="1500" dirty="0"/>
          </a:p>
        </p:txBody>
      </p:sp>
      <p:sp>
        <p:nvSpPr>
          <p:cNvPr id="27" name="step number 4"/>
          <p:cNvSpPr/>
          <p:nvPr/>
        </p:nvSpPr>
        <p:spPr>
          <a:xfrm>
            <a:off x="6400800" y="4023360"/>
            <a:ext cx="438912" cy="438912"/>
          </a:xfrm>
          <a:prstGeom prst="ellipse">
            <a:avLst/>
          </a:prstGeom>
          <a:solidFill>
            <a:schemeClr val="accent1"/>
          </a:solidFill>
          <a:ln/>
        </p:spPr>
      </p:sp>
      <p:sp>
        <p:nvSpPr>
          <p:cNvPr id="28" name="Text 24"/>
          <p:cNvSpPr txBox="1"/>
          <p:nvPr/>
        </p:nvSpPr>
        <p:spPr>
          <a:xfrm>
            <a:off x="6400800" y="40233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9" name="Text 25"/>
          <p:cNvSpPr txBox="1"/>
          <p:nvPr/>
        </p:nvSpPr>
        <p:spPr>
          <a:xfrm>
            <a:off x="6995160" y="3977640"/>
            <a:ext cx="4663440" cy="566928"/>
          </a:xfrm>
          <a:prstGeom prst="rect">
            <a:avLst/>
          </a:prstGeom>
          <a:noFill/>
          <a:ln/>
        </p:spPr>
        <p:txBody>
          <a:bodyPr wrap="square" lIns="0" tIns="0" rIns="0" bIns="0" rtlCol="0" anchor="ctr"/>
          <a:lstStyle/>
          <a:p>
            <a:pPr indent="0" marL="0">
              <a:buNone/>
            </a:pPr>
            <a:r>
              <a:rPr lang="en-US" sz="1500" b="1" dirty="0">
                <a:solidFill>
                  <a:schemeClr val="tx2"/>
                </a:solidFill>
              </a:rPr>
              <a:t>Fill missing values</a:t>
            </a:r>
            <a:endParaRPr lang="en-US" sz="1500" dirty="0"/>
          </a:p>
          <a:p>
            <a:pPr indent="0" marL="0">
              <a:buNone/>
            </a:pPr>
            <a:r>
              <a:rPr lang="en-US" sz="1300" dirty="0">
                <a:solidFill>
                  <a:schemeClr val="accent5"/>
                </a:solidFill>
              </a:rPr>
              <a:t>using training data statistics only</a:t>
            </a:r>
            <a:endParaRPr lang="en-US" sz="1500" dirty="0"/>
          </a:p>
        </p:txBody>
      </p:sp>
      <p:sp>
        <p:nvSpPr>
          <p:cNvPr id="30" name="step number 5"/>
          <p:cNvSpPr/>
          <p:nvPr/>
        </p:nvSpPr>
        <p:spPr>
          <a:xfrm>
            <a:off x="6400800" y="4709160"/>
            <a:ext cx="438912" cy="438912"/>
          </a:xfrm>
          <a:prstGeom prst="ellipse">
            <a:avLst/>
          </a:prstGeom>
          <a:solidFill>
            <a:schemeClr val="accent1"/>
          </a:solidFill>
          <a:ln/>
        </p:spPr>
      </p:sp>
      <p:sp>
        <p:nvSpPr>
          <p:cNvPr id="31" name="Text 27"/>
          <p:cNvSpPr txBox="1"/>
          <p:nvPr/>
        </p:nvSpPr>
        <p:spPr>
          <a:xfrm>
            <a:off x="6400800" y="47091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2" name="Text 28"/>
          <p:cNvSpPr txBox="1"/>
          <p:nvPr/>
        </p:nvSpPr>
        <p:spPr>
          <a:xfrm>
            <a:off x="6995160" y="4663440"/>
            <a:ext cx="4663440" cy="566928"/>
          </a:xfrm>
          <a:prstGeom prst="rect">
            <a:avLst/>
          </a:prstGeom>
          <a:noFill/>
          <a:ln/>
        </p:spPr>
        <p:txBody>
          <a:bodyPr wrap="square" lIns="0" tIns="0" rIns="0" bIns="0" rtlCol="0" anchor="ctr"/>
          <a:lstStyle/>
          <a:p>
            <a:pPr indent="0" marL="0">
              <a:buNone/>
            </a:pPr>
            <a:r>
              <a:rPr lang="en-US" sz="1500" b="1" dirty="0">
                <a:solidFill>
                  <a:schemeClr val="tx2"/>
                </a:solidFill>
              </a:rPr>
              <a:t>Create new features</a:t>
            </a:r>
            <a:endParaRPr lang="en-US" sz="1500" dirty="0"/>
          </a:p>
          <a:p>
            <a:pPr indent="0" marL="0">
              <a:buNone/>
            </a:pPr>
            <a:r>
              <a:rPr lang="en-US" sz="1300" dirty="0">
                <a:solidFill>
                  <a:schemeClr val="accent5"/>
                </a:solidFill>
              </a:rPr>
              <a:t>expected demand, spoilage rate, capacity, time slack</a:t>
            </a:r>
            <a:endParaRPr lang="en-US" sz="1500" dirty="0"/>
          </a:p>
        </p:txBody>
      </p:sp>
      <p:sp>
        <p:nvSpPr>
          <p:cNvPr id="33" name="step number 6"/>
          <p:cNvSpPr/>
          <p:nvPr/>
        </p:nvSpPr>
        <p:spPr>
          <a:xfrm>
            <a:off x="6400800" y="5394960"/>
            <a:ext cx="438912" cy="438912"/>
          </a:xfrm>
          <a:prstGeom prst="ellipse">
            <a:avLst/>
          </a:prstGeom>
          <a:solidFill>
            <a:schemeClr val="accent1"/>
          </a:solidFill>
          <a:ln/>
        </p:spPr>
      </p:sp>
      <p:sp>
        <p:nvSpPr>
          <p:cNvPr id="34" name="Text 30"/>
          <p:cNvSpPr txBox="1"/>
          <p:nvPr/>
        </p:nvSpPr>
        <p:spPr>
          <a:xfrm>
            <a:off x="6400800" y="53949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5" name="Text 31"/>
          <p:cNvSpPr txBox="1"/>
          <p:nvPr/>
        </p:nvSpPr>
        <p:spPr>
          <a:xfrm>
            <a:off x="6995160" y="5349240"/>
            <a:ext cx="4663440" cy="566928"/>
          </a:xfrm>
          <a:prstGeom prst="rect">
            <a:avLst/>
          </a:prstGeom>
          <a:noFill/>
          <a:ln/>
        </p:spPr>
        <p:txBody>
          <a:bodyPr wrap="square" lIns="0" tIns="0" rIns="0" bIns="0" rtlCol="0" anchor="ctr"/>
          <a:lstStyle/>
          <a:p>
            <a:pPr indent="0" marL="0">
              <a:buNone/>
            </a:pPr>
            <a:r>
              <a:rPr lang="en-US" sz="1500" b="1" dirty="0">
                <a:solidFill>
                  <a:schemeClr val="tx2"/>
                </a:solidFill>
              </a:rPr>
              <a:t>Encode and choose models</a:t>
            </a:r>
            <a:endParaRPr lang="en-US" sz="1500" dirty="0"/>
          </a:p>
          <a:p>
            <a:pPr indent="0" marL="0">
              <a:buNone/>
            </a:pPr>
            <a:r>
              <a:rPr lang="en-US" sz="1300" dirty="0">
                <a:solidFill>
                  <a:schemeClr val="accent5"/>
                </a:solidFill>
              </a:rPr>
              <a:t>one-hot encoding · tested over 5 time periods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AI 1: predicting leftovers and waste risk</a:t>
            </a:r>
            <a:endParaRPr lang="en-US" sz="3400" dirty="0"/>
          </a:p>
        </p:txBody>
      </p:sp>
      <p:graphicFrame>
        <p:nvGraphicFramePr>
          <p:cNvPr id="3" name="waste model accuracy chart"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AI1 stat 1"/>
          <p:cNvSpPr/>
          <p:nvPr/>
        </p:nvSpPr>
        <p:spPr>
          <a:xfrm>
            <a:off x="7680960" y="1417320"/>
            <a:ext cx="3931920" cy="1417320"/>
          </a:xfrm>
          <a:prstGeom prst="roundRect">
            <a:avLst>
              <a:gd name="adj" fmla="val 7742"/>
            </a:avLst>
          </a:prstGeom>
          <a:solidFill>
            <a:schemeClr val="bg2"/>
          </a:solidFill>
          <a:ln/>
          <a:effectLst>
            <a:outerShdw sx="100000" sy="100000" kx="0" ky="0" algn="bl" rotWithShape="0" blurRad="76200" dist="25400" dir="5400000">
              <a:srgbClr val="1B2E1F">
                <a:alpha val="12000"/>
              </a:srgbClr>
            </a:outerShdw>
          </a:effectLst>
        </p:spPr>
      </p:sp>
      <p:sp>
        <p:nvSpPr>
          <p:cNvPr id="5" name="Text 2"/>
          <p:cNvSpPr txBox="1"/>
          <p:nvPr/>
        </p:nvSpPr>
        <p:spPr>
          <a:xfrm>
            <a:off x="7909560" y="1554480"/>
            <a:ext cx="3566160" cy="6400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71.2%</a:t>
            </a:r>
            <a:endParaRPr lang="en-US" sz="3600" dirty="0"/>
          </a:p>
        </p:txBody>
      </p:sp>
      <p:sp>
        <p:nvSpPr>
          <p:cNvPr id="6" name="Text 3"/>
          <p:cNvSpPr txBox="1"/>
          <p:nvPr/>
        </p:nvSpPr>
        <p:spPr>
          <a:xfrm>
            <a:off x="7909560" y="2167128"/>
            <a:ext cx="3566160" cy="292608"/>
          </a:xfrm>
          <a:prstGeom prst="rect">
            <a:avLst/>
          </a:prstGeom>
          <a:noFill/>
          <a:ln/>
        </p:spPr>
        <p:txBody>
          <a:bodyPr wrap="square" lIns="0" tIns="0" rIns="0" bIns="0" rtlCol="0" anchor="ctr"/>
          <a:lstStyle/>
          <a:p>
            <a:pPr indent="0" marL="0">
              <a:buNone/>
            </a:pPr>
            <a:r>
              <a:rPr lang="en-US" sz="1500" b="1" dirty="0">
                <a:solidFill>
                  <a:schemeClr val="tx1"/>
                </a:solidFill>
              </a:rPr>
              <a:t>Waste-risk accuracy</a:t>
            </a:r>
            <a:endParaRPr lang="en-US" sz="1500" dirty="0"/>
          </a:p>
        </p:txBody>
      </p:sp>
      <p:sp>
        <p:nvSpPr>
          <p:cNvPr id="7" name="Text 4"/>
          <p:cNvSpPr txBox="1"/>
          <p:nvPr/>
        </p:nvSpPr>
        <p:spPr>
          <a:xfrm>
            <a:off x="7909560" y="2450592"/>
            <a:ext cx="3566160" cy="274320"/>
          </a:xfrm>
          <a:prstGeom prst="rect">
            <a:avLst/>
          </a:prstGeom>
          <a:noFill/>
          <a:ln/>
        </p:spPr>
        <p:txBody>
          <a:bodyPr wrap="square" lIns="0" tIns="0" rIns="0" bIns="0" rtlCol="0" anchor="ctr"/>
          <a:lstStyle/>
          <a:p>
            <a:pPr indent="0" marL="0">
              <a:buNone/>
            </a:pPr>
            <a:r>
              <a:rPr lang="en-US" sz="1200" dirty="0">
                <a:solidFill>
                  <a:schemeClr val="accent5"/>
                </a:solidFill>
              </a:rPr>
              <a:t>Random Forest · up from 69.4% · baseline 53.3%</a:t>
            </a:r>
            <a:endParaRPr lang="en-US" sz="1200" dirty="0"/>
          </a:p>
        </p:txBody>
      </p:sp>
      <p:sp>
        <p:nvSpPr>
          <p:cNvPr id="8" name="AI1 stat 2"/>
          <p:cNvSpPr/>
          <p:nvPr/>
        </p:nvSpPr>
        <p:spPr>
          <a:xfrm>
            <a:off x="7680960" y="3017520"/>
            <a:ext cx="3931920" cy="1417320"/>
          </a:xfrm>
          <a:prstGeom prst="roundRect">
            <a:avLst>
              <a:gd name="adj" fmla="val 7742"/>
            </a:avLst>
          </a:prstGeom>
          <a:solidFill>
            <a:schemeClr val="bg2"/>
          </a:solidFill>
          <a:ln/>
          <a:effectLst>
            <a:outerShdw sx="100000" sy="100000" kx="0" ky="0" algn="bl" rotWithShape="0" blurRad="76200" dist="25400" dir="5400000">
              <a:srgbClr val="1B2E1F">
                <a:alpha val="12000"/>
              </a:srgbClr>
            </a:outerShdw>
          </a:effectLst>
        </p:spPr>
      </p:sp>
      <p:sp>
        <p:nvSpPr>
          <p:cNvPr id="9" name="Text 6"/>
          <p:cNvSpPr txBox="1"/>
          <p:nvPr/>
        </p:nvSpPr>
        <p:spPr>
          <a:xfrm>
            <a:off x="7909560" y="3154680"/>
            <a:ext cx="3566160" cy="6400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0.915</a:t>
            </a:r>
            <a:endParaRPr lang="en-US" sz="3600" dirty="0"/>
          </a:p>
        </p:txBody>
      </p:sp>
      <p:sp>
        <p:nvSpPr>
          <p:cNvPr id="10" name="Text 7"/>
          <p:cNvSpPr txBox="1"/>
          <p:nvPr/>
        </p:nvSpPr>
        <p:spPr>
          <a:xfrm>
            <a:off x="7909560" y="3767328"/>
            <a:ext cx="3566160" cy="292608"/>
          </a:xfrm>
          <a:prstGeom prst="rect">
            <a:avLst/>
          </a:prstGeom>
          <a:noFill/>
          <a:ln/>
        </p:spPr>
        <p:txBody>
          <a:bodyPr wrap="square" lIns="0" tIns="0" rIns="0" bIns="0" rtlCol="0" anchor="ctr"/>
          <a:lstStyle/>
          <a:p>
            <a:pPr indent="0" marL="0">
              <a:buNone/>
            </a:pPr>
            <a:r>
              <a:rPr lang="en-US" sz="1500" b="1" dirty="0">
                <a:solidFill>
                  <a:schemeClr val="tx1"/>
                </a:solidFill>
              </a:rPr>
              <a:t>R² for leftover amount</a:t>
            </a:r>
            <a:endParaRPr lang="en-US" sz="1500" dirty="0"/>
          </a:p>
        </p:txBody>
      </p:sp>
      <p:sp>
        <p:nvSpPr>
          <p:cNvPr id="11" name="Text 8"/>
          <p:cNvSpPr txBox="1"/>
          <p:nvPr/>
        </p:nvSpPr>
        <p:spPr>
          <a:xfrm>
            <a:off x="7909560" y="4050792"/>
            <a:ext cx="3566160" cy="274320"/>
          </a:xfrm>
          <a:prstGeom prst="rect">
            <a:avLst/>
          </a:prstGeom>
          <a:noFill/>
          <a:ln/>
        </p:spPr>
        <p:txBody>
          <a:bodyPr wrap="square" lIns="0" tIns="0" rIns="0" bIns="0" rtlCol="0" anchor="ctr"/>
          <a:lstStyle/>
          <a:p>
            <a:pPr indent="0" marL="0">
              <a:buNone/>
            </a:pPr>
            <a:r>
              <a:rPr lang="en-US" sz="1200" dirty="0">
                <a:solidFill>
                  <a:schemeClr val="accent5"/>
                </a:solidFill>
              </a:rPr>
              <a:t>Gradient Boosting explains 92% of variation</a:t>
            </a:r>
            <a:endParaRPr lang="en-US" sz="1200" dirty="0"/>
          </a:p>
        </p:txBody>
      </p:sp>
      <p:sp>
        <p:nvSpPr>
          <p:cNvPr id="12" name="AI1 stat 3"/>
          <p:cNvSpPr/>
          <p:nvPr/>
        </p:nvSpPr>
        <p:spPr>
          <a:xfrm>
            <a:off x="7680960" y="4617720"/>
            <a:ext cx="3931920" cy="1417320"/>
          </a:xfrm>
          <a:prstGeom prst="roundRect">
            <a:avLst>
              <a:gd name="adj" fmla="val 7742"/>
            </a:avLst>
          </a:prstGeom>
          <a:solidFill>
            <a:schemeClr val="bg2"/>
          </a:solidFill>
          <a:ln/>
          <a:effectLst>
            <a:outerShdw sx="100000" sy="100000" kx="0" ky="0" algn="bl" rotWithShape="0" blurRad="76200" dist="25400" dir="5400000">
              <a:srgbClr val="1B2E1F">
                <a:alpha val="12000"/>
              </a:srgbClr>
            </a:outerShdw>
          </a:effectLst>
        </p:spPr>
      </p:sp>
      <p:sp>
        <p:nvSpPr>
          <p:cNvPr id="13" name="Text 10"/>
          <p:cNvSpPr txBox="1"/>
          <p:nvPr/>
        </p:nvSpPr>
        <p:spPr>
          <a:xfrm>
            <a:off x="7909560" y="4754880"/>
            <a:ext cx="3566160" cy="64008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 7.8</a:t>
            </a:r>
            <a:endParaRPr lang="en-US" sz="3600" dirty="0"/>
          </a:p>
        </p:txBody>
      </p:sp>
      <p:sp>
        <p:nvSpPr>
          <p:cNvPr id="14" name="Text 11"/>
          <p:cNvSpPr txBox="1"/>
          <p:nvPr/>
        </p:nvSpPr>
        <p:spPr>
          <a:xfrm>
            <a:off x="7909560" y="5367528"/>
            <a:ext cx="3566160" cy="292608"/>
          </a:xfrm>
          <a:prstGeom prst="rect">
            <a:avLst/>
          </a:prstGeom>
          <a:noFill/>
          <a:ln/>
        </p:spPr>
        <p:txBody>
          <a:bodyPr wrap="square" lIns="0" tIns="0" rIns="0" bIns="0" rtlCol="0" anchor="ctr"/>
          <a:lstStyle/>
          <a:p>
            <a:pPr indent="0" marL="0">
              <a:buNone/>
            </a:pPr>
            <a:r>
              <a:rPr lang="en-US" sz="1500" b="1" dirty="0">
                <a:solidFill>
                  <a:schemeClr val="tx1"/>
                </a:solidFill>
              </a:rPr>
              <a:t>units average error</a:t>
            </a:r>
            <a:endParaRPr lang="en-US" sz="1500" dirty="0"/>
          </a:p>
        </p:txBody>
      </p:sp>
      <p:sp>
        <p:nvSpPr>
          <p:cNvPr id="15" name="Text 12"/>
          <p:cNvSpPr txBox="1"/>
          <p:nvPr/>
        </p:nvSpPr>
        <p:spPr>
          <a:xfrm>
            <a:off x="7909560" y="5650992"/>
            <a:ext cx="3566160" cy="274320"/>
          </a:xfrm>
          <a:prstGeom prst="rect">
            <a:avLst/>
          </a:prstGeom>
          <a:noFill/>
          <a:ln/>
        </p:spPr>
        <p:txBody>
          <a:bodyPr wrap="square" lIns="0" tIns="0" rIns="0" bIns="0" rtlCol="0" anchor="ctr"/>
          <a:lstStyle/>
          <a:p>
            <a:pPr indent="0" marL="0">
              <a:buNone/>
            </a:pPr>
            <a:r>
              <a:rPr lang="en-US" sz="1200" dirty="0">
                <a:solidFill>
                  <a:schemeClr val="accent5"/>
                </a:solidFill>
              </a:rPr>
              <a:t>vs ± 22.7 when guessing the average</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Waste-risk model: strengths and weak spots</a:t>
            </a:r>
            <a:endParaRPr lang="en-US" sz="3400" dirty="0"/>
          </a:p>
        </p:txBody>
      </p:sp>
      <p:sp>
        <p:nvSpPr>
          <p:cNvPr id="3" name="Text 1"/>
          <p:cNvSpPr txBox="1"/>
          <p:nvPr/>
        </p:nvSpPr>
        <p:spPr>
          <a:xfrm>
            <a:off x="548640" y="1280160"/>
            <a:ext cx="5486400" cy="365760"/>
          </a:xfrm>
          <a:prstGeom prst="rect">
            <a:avLst/>
          </a:prstGeom>
          <a:noFill/>
          <a:ln/>
        </p:spPr>
        <p:txBody>
          <a:bodyPr wrap="square" lIns="0" tIns="0" rIns="0" bIns="0" rtlCol="0" anchor="ctr"/>
          <a:lstStyle/>
          <a:p>
            <a:pPr indent="0" marL="0">
              <a:buNone/>
            </a:pPr>
            <a:r>
              <a:rPr lang="en-US" sz="1600" b="1" dirty="0">
                <a:solidFill>
                  <a:schemeClr val="tx2"/>
                </a:solidFill>
              </a:rPr>
              <a:t>Confusion matrix (test set, 1,185 days)</a:t>
            </a:r>
            <a:endParaRPr lang="en-US" sz="1600" dirty="0"/>
          </a:p>
        </p:txBody>
      </p:sp>
      <p:sp>
        <p:nvSpPr>
          <p:cNvPr id="4" name="Text 2"/>
          <p:cNvSpPr txBox="1"/>
          <p:nvPr/>
        </p:nvSpPr>
        <p:spPr>
          <a:xfrm>
            <a:off x="1828800" y="1664208"/>
            <a:ext cx="3977640" cy="274320"/>
          </a:xfrm>
          <a:prstGeom prst="rect">
            <a:avLst/>
          </a:prstGeom>
          <a:noFill/>
          <a:ln/>
        </p:spPr>
        <p:txBody>
          <a:bodyPr wrap="square" lIns="0" tIns="0" rIns="0" bIns="0" rtlCol="0" anchor="ctr"/>
          <a:lstStyle/>
          <a:p>
            <a:pPr algn="ctr" indent="0" marL="0">
              <a:buNone/>
            </a:pPr>
            <a:r>
              <a:rPr lang="en-US" sz="1200" b="1" dirty="0">
                <a:solidFill>
                  <a:schemeClr val="accent5"/>
                </a:solidFill>
              </a:rPr>
              <a:t>Predicted</a:t>
            </a:r>
            <a:endParaRPr lang="en-US" sz="1200" dirty="0"/>
          </a:p>
        </p:txBody>
      </p:sp>
      <p:sp>
        <p:nvSpPr>
          <p:cNvPr id="5" name="Text 3"/>
          <p:cNvSpPr txBox="1"/>
          <p:nvPr/>
        </p:nvSpPr>
        <p:spPr>
          <a:xfrm>
            <a:off x="1828800" y="1938528"/>
            <a:ext cx="1325880" cy="274320"/>
          </a:xfrm>
          <a:prstGeom prst="rect">
            <a:avLst/>
          </a:prstGeom>
          <a:noFill/>
          <a:ln/>
        </p:spPr>
        <p:txBody>
          <a:bodyPr wrap="square" lIns="0" tIns="0" rIns="0" bIns="0" rtlCol="0" anchor="ctr"/>
          <a:lstStyle/>
          <a:p>
            <a:pPr algn="ctr" indent="0" marL="0">
              <a:buNone/>
            </a:pPr>
            <a:r>
              <a:rPr lang="en-US" sz="1300" b="1" dirty="0">
                <a:solidFill>
                  <a:schemeClr val="tx1"/>
                </a:solidFill>
              </a:rPr>
              <a:t>Low</a:t>
            </a:r>
            <a:endParaRPr lang="en-US" sz="1300" dirty="0"/>
          </a:p>
        </p:txBody>
      </p:sp>
      <p:sp>
        <p:nvSpPr>
          <p:cNvPr id="6" name="Text 4"/>
          <p:cNvSpPr txBox="1"/>
          <p:nvPr/>
        </p:nvSpPr>
        <p:spPr>
          <a:xfrm>
            <a:off x="3154680" y="1938528"/>
            <a:ext cx="1325880" cy="274320"/>
          </a:xfrm>
          <a:prstGeom prst="rect">
            <a:avLst/>
          </a:prstGeom>
          <a:noFill/>
          <a:ln/>
        </p:spPr>
        <p:txBody>
          <a:bodyPr wrap="square" lIns="0" tIns="0" rIns="0" bIns="0" rtlCol="0" anchor="ctr"/>
          <a:lstStyle/>
          <a:p>
            <a:pPr algn="ctr" indent="0" marL="0">
              <a:buNone/>
            </a:pPr>
            <a:r>
              <a:rPr lang="en-US" sz="1300" b="1" dirty="0">
                <a:solidFill>
                  <a:schemeClr val="tx1"/>
                </a:solidFill>
              </a:rPr>
              <a:t>Medium</a:t>
            </a:r>
            <a:endParaRPr lang="en-US" sz="1300" dirty="0"/>
          </a:p>
        </p:txBody>
      </p:sp>
      <p:sp>
        <p:nvSpPr>
          <p:cNvPr id="7" name="Text 5"/>
          <p:cNvSpPr txBox="1"/>
          <p:nvPr/>
        </p:nvSpPr>
        <p:spPr>
          <a:xfrm>
            <a:off x="4480560" y="1938528"/>
            <a:ext cx="1325880" cy="274320"/>
          </a:xfrm>
          <a:prstGeom prst="rect">
            <a:avLst/>
          </a:prstGeom>
          <a:noFill/>
          <a:ln/>
        </p:spPr>
        <p:txBody>
          <a:bodyPr wrap="square" lIns="0" tIns="0" rIns="0" bIns="0" rtlCol="0" anchor="ctr"/>
          <a:lstStyle/>
          <a:p>
            <a:pPr algn="ctr" indent="0" marL="0">
              <a:buNone/>
            </a:pPr>
            <a:r>
              <a:rPr lang="en-US" sz="1300" b="1" dirty="0">
                <a:solidFill>
                  <a:schemeClr val="tx1"/>
                </a:solidFill>
              </a:rPr>
              <a:t>High</a:t>
            </a:r>
            <a:endParaRPr lang="en-US" sz="1300" dirty="0"/>
          </a:p>
        </p:txBody>
      </p:sp>
      <p:sp>
        <p:nvSpPr>
          <p:cNvPr id="8" name="Text 6"/>
          <p:cNvSpPr txBox="1"/>
          <p:nvPr/>
        </p:nvSpPr>
        <p:spPr>
          <a:xfrm rot="16200000">
            <a:off x="411480" y="3520440"/>
            <a:ext cx="640080" cy="274320"/>
          </a:xfrm>
          <a:prstGeom prst="rect">
            <a:avLst/>
          </a:prstGeom>
          <a:noFill/>
          <a:ln/>
        </p:spPr>
        <p:txBody>
          <a:bodyPr wrap="square" lIns="0" tIns="0" rIns="0" bIns="0" rtlCol="0" anchor="ctr"/>
          <a:lstStyle/>
          <a:p>
            <a:pPr algn="ctr" indent="0" marL="0">
              <a:buNone/>
            </a:pPr>
            <a:r>
              <a:rPr lang="en-US" sz="1200" b="1" dirty="0">
                <a:solidFill>
                  <a:schemeClr val="accent5"/>
                </a:solidFill>
              </a:rPr>
              <a:t>Actual</a:t>
            </a:r>
            <a:endParaRPr lang="en-US" sz="1200" dirty="0"/>
          </a:p>
        </p:txBody>
      </p:sp>
      <p:sp>
        <p:nvSpPr>
          <p:cNvPr id="9" name="Text 7"/>
          <p:cNvSpPr txBox="1"/>
          <p:nvPr/>
        </p:nvSpPr>
        <p:spPr>
          <a:xfrm>
            <a:off x="1005840" y="2240280"/>
            <a:ext cx="777240" cy="960120"/>
          </a:xfrm>
          <a:prstGeom prst="rect">
            <a:avLst/>
          </a:prstGeom>
          <a:noFill/>
          <a:ln/>
        </p:spPr>
        <p:txBody>
          <a:bodyPr wrap="square" lIns="0" tIns="0" rIns="0" bIns="0" rtlCol="0" anchor="ctr"/>
          <a:lstStyle/>
          <a:p>
            <a:pPr algn="r" indent="0" marL="0">
              <a:buNone/>
            </a:pPr>
            <a:r>
              <a:rPr lang="en-US" sz="1300" b="1" dirty="0">
                <a:solidFill>
                  <a:schemeClr val="tx1"/>
                </a:solidFill>
              </a:rPr>
              <a:t>Low</a:t>
            </a:r>
            <a:endParaRPr lang="en-US" sz="1300" dirty="0"/>
          </a:p>
        </p:txBody>
      </p:sp>
      <p:sp>
        <p:nvSpPr>
          <p:cNvPr id="10" name="cm cell 00"/>
          <p:cNvSpPr/>
          <p:nvPr/>
        </p:nvSpPr>
        <p:spPr>
          <a:xfrm>
            <a:off x="1865376" y="2276856"/>
            <a:ext cx="1252728" cy="886968"/>
          </a:xfrm>
          <a:prstGeom prst="rect">
            <a:avLst/>
          </a:prstGeom>
          <a:solidFill>
            <a:schemeClr val="accent1"/>
          </a:solidFill>
          <a:ln/>
        </p:spPr>
      </p:sp>
      <p:sp>
        <p:nvSpPr>
          <p:cNvPr id="11" name="Text 9"/>
          <p:cNvSpPr txBox="1"/>
          <p:nvPr/>
        </p:nvSpPr>
        <p:spPr>
          <a:xfrm>
            <a:off x="1828800" y="2240280"/>
            <a:ext cx="1325880" cy="960120"/>
          </a:xfrm>
          <a:prstGeom prst="rect">
            <a:avLst/>
          </a:prstGeom>
          <a:noFill/>
          <a:ln/>
        </p:spPr>
        <p:txBody>
          <a:bodyPr wrap="square" lIns="0" tIns="0" rIns="0" bIns="0" rtlCol="0" anchor="ctr"/>
          <a:lstStyle/>
          <a:p>
            <a:pPr algn="ctr" indent="0" marL="0">
              <a:buNone/>
            </a:pPr>
            <a:r>
              <a:rPr lang="en-US" sz="1800" b="1" dirty="0">
                <a:solidFill>
                  <a:schemeClr val="bg1"/>
                </a:solidFill>
              </a:rPr>
              <a:t>544</a:t>
            </a:r>
            <a:endParaRPr lang="en-US" sz="1800" dirty="0"/>
          </a:p>
          <a:p>
            <a:pPr algn="ctr" indent="0" marL="0">
              <a:buNone/>
            </a:pPr>
            <a:r>
              <a:rPr lang="en-US" sz="1100" dirty="0">
                <a:solidFill>
                  <a:schemeClr val="bg1"/>
                </a:solidFill>
              </a:rPr>
              <a:t>86%</a:t>
            </a:r>
            <a:endParaRPr lang="en-US" sz="1800" dirty="0"/>
          </a:p>
        </p:txBody>
      </p:sp>
      <p:sp>
        <p:nvSpPr>
          <p:cNvPr id="12" name="cm cell 01"/>
          <p:cNvSpPr/>
          <p:nvPr/>
        </p:nvSpPr>
        <p:spPr>
          <a:xfrm>
            <a:off x="3191256" y="2276856"/>
            <a:ext cx="1252728" cy="886968"/>
          </a:xfrm>
          <a:prstGeom prst="rect">
            <a:avLst/>
          </a:prstGeom>
          <a:solidFill>
            <a:schemeClr val="accent2">
              <a:alpha val="25000"/>
            </a:schemeClr>
          </a:solidFill>
          <a:ln/>
        </p:spPr>
      </p:sp>
      <p:sp>
        <p:nvSpPr>
          <p:cNvPr id="13" name="Text 11"/>
          <p:cNvSpPr txBox="1"/>
          <p:nvPr/>
        </p:nvSpPr>
        <p:spPr>
          <a:xfrm>
            <a:off x="3154680" y="2240280"/>
            <a:ext cx="1325880" cy="960120"/>
          </a:xfrm>
          <a:prstGeom prst="rect">
            <a:avLst/>
          </a:prstGeom>
          <a:noFill/>
          <a:ln/>
        </p:spPr>
        <p:txBody>
          <a:bodyPr wrap="square" lIns="0" tIns="0" rIns="0" bIns="0" rtlCol="0" anchor="ctr"/>
          <a:lstStyle/>
          <a:p>
            <a:pPr algn="ctr" indent="0" marL="0">
              <a:buNone/>
            </a:pPr>
            <a:r>
              <a:rPr lang="en-US" sz="1800" b="1" dirty="0">
                <a:solidFill>
                  <a:schemeClr val="tx1"/>
                </a:solidFill>
              </a:rPr>
              <a:t>84</a:t>
            </a:r>
            <a:endParaRPr lang="en-US" sz="1800" dirty="0"/>
          </a:p>
          <a:p>
            <a:pPr algn="ctr" indent="0" marL="0">
              <a:buNone/>
            </a:pPr>
            <a:r>
              <a:rPr lang="en-US" sz="1100" dirty="0">
                <a:solidFill>
                  <a:schemeClr val="tx1"/>
                </a:solidFill>
              </a:rPr>
              <a:t>13%</a:t>
            </a:r>
            <a:endParaRPr lang="en-US" sz="1800" dirty="0"/>
          </a:p>
        </p:txBody>
      </p:sp>
      <p:sp>
        <p:nvSpPr>
          <p:cNvPr id="14" name="cm cell 02"/>
          <p:cNvSpPr/>
          <p:nvPr/>
        </p:nvSpPr>
        <p:spPr>
          <a:xfrm>
            <a:off x="4517136" y="2276856"/>
            <a:ext cx="1252728" cy="886968"/>
          </a:xfrm>
          <a:prstGeom prst="rect">
            <a:avLst/>
          </a:prstGeom>
          <a:solidFill>
            <a:schemeClr val="accent2">
              <a:alpha val="12000"/>
            </a:schemeClr>
          </a:solidFill>
          <a:ln/>
        </p:spPr>
      </p:sp>
      <p:sp>
        <p:nvSpPr>
          <p:cNvPr id="15" name="Text 13"/>
          <p:cNvSpPr txBox="1"/>
          <p:nvPr/>
        </p:nvSpPr>
        <p:spPr>
          <a:xfrm>
            <a:off x="4480560" y="2240280"/>
            <a:ext cx="1325880" cy="9601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a:p>
            <a:pPr algn="ctr" indent="0" marL="0">
              <a:buNone/>
            </a:pPr>
            <a:r>
              <a:rPr lang="en-US" sz="1100" dirty="0">
                <a:solidFill>
                  <a:schemeClr val="tx1"/>
                </a:solidFill>
              </a:rPr>
              <a:t>1%</a:t>
            </a:r>
            <a:endParaRPr lang="en-US" sz="1800" dirty="0"/>
          </a:p>
        </p:txBody>
      </p:sp>
      <p:sp>
        <p:nvSpPr>
          <p:cNvPr id="16" name="Text 14"/>
          <p:cNvSpPr txBox="1"/>
          <p:nvPr/>
        </p:nvSpPr>
        <p:spPr>
          <a:xfrm>
            <a:off x="1005840" y="3200400"/>
            <a:ext cx="777240" cy="960120"/>
          </a:xfrm>
          <a:prstGeom prst="rect">
            <a:avLst/>
          </a:prstGeom>
          <a:noFill/>
          <a:ln/>
        </p:spPr>
        <p:txBody>
          <a:bodyPr wrap="square" lIns="0" tIns="0" rIns="0" bIns="0" rtlCol="0" anchor="ctr"/>
          <a:lstStyle/>
          <a:p>
            <a:pPr algn="r" indent="0" marL="0">
              <a:buNone/>
            </a:pPr>
            <a:r>
              <a:rPr lang="en-US" sz="1300" b="1" dirty="0">
                <a:solidFill>
                  <a:schemeClr val="tx1"/>
                </a:solidFill>
              </a:rPr>
              <a:t>Medium</a:t>
            </a:r>
            <a:endParaRPr lang="en-US" sz="1300" dirty="0"/>
          </a:p>
        </p:txBody>
      </p:sp>
      <p:sp>
        <p:nvSpPr>
          <p:cNvPr id="17" name="cm cell 10"/>
          <p:cNvSpPr/>
          <p:nvPr/>
        </p:nvSpPr>
        <p:spPr>
          <a:xfrm>
            <a:off x="1865376" y="3236976"/>
            <a:ext cx="1252728" cy="886968"/>
          </a:xfrm>
          <a:prstGeom prst="rect">
            <a:avLst/>
          </a:prstGeom>
          <a:solidFill>
            <a:schemeClr val="accent2">
              <a:alpha val="53000"/>
            </a:schemeClr>
          </a:solidFill>
          <a:ln/>
        </p:spPr>
      </p:sp>
      <p:sp>
        <p:nvSpPr>
          <p:cNvPr id="18" name="Text 16"/>
          <p:cNvSpPr txBox="1"/>
          <p:nvPr/>
        </p:nvSpPr>
        <p:spPr>
          <a:xfrm>
            <a:off x="1828800" y="3200400"/>
            <a:ext cx="1325880" cy="960120"/>
          </a:xfrm>
          <a:prstGeom prst="rect">
            <a:avLst/>
          </a:prstGeom>
          <a:noFill/>
          <a:ln/>
        </p:spPr>
        <p:txBody>
          <a:bodyPr wrap="square" lIns="0" tIns="0" rIns="0" bIns="0" rtlCol="0" anchor="ctr"/>
          <a:lstStyle/>
          <a:p>
            <a:pPr algn="ctr" indent="0" marL="0">
              <a:buNone/>
            </a:pPr>
            <a:r>
              <a:rPr lang="en-US" sz="1800" b="1" dirty="0">
                <a:solidFill>
                  <a:schemeClr val="tx1"/>
                </a:solidFill>
              </a:rPr>
              <a:t>124</a:t>
            </a:r>
            <a:endParaRPr lang="en-US" sz="1800" dirty="0"/>
          </a:p>
          <a:p>
            <a:pPr algn="ctr" indent="0" marL="0">
              <a:buNone/>
            </a:pPr>
            <a:r>
              <a:rPr lang="en-US" sz="1100" dirty="0">
                <a:solidFill>
                  <a:schemeClr val="tx1"/>
                </a:solidFill>
              </a:rPr>
              <a:t>34%</a:t>
            </a:r>
            <a:endParaRPr lang="en-US" sz="1800" dirty="0"/>
          </a:p>
        </p:txBody>
      </p:sp>
      <p:sp>
        <p:nvSpPr>
          <p:cNvPr id="19" name="cm cell 11"/>
          <p:cNvSpPr/>
          <p:nvPr/>
        </p:nvSpPr>
        <p:spPr>
          <a:xfrm>
            <a:off x="3191256" y="3236976"/>
            <a:ext cx="1252728" cy="886968"/>
          </a:xfrm>
          <a:prstGeom prst="rect">
            <a:avLst/>
          </a:prstGeom>
          <a:solidFill>
            <a:schemeClr val="accent1">
              <a:alpha val="81000"/>
            </a:schemeClr>
          </a:solidFill>
          <a:ln/>
        </p:spPr>
      </p:sp>
      <p:sp>
        <p:nvSpPr>
          <p:cNvPr id="20" name="Text 18"/>
          <p:cNvSpPr txBox="1"/>
          <p:nvPr/>
        </p:nvSpPr>
        <p:spPr>
          <a:xfrm>
            <a:off x="3154680" y="3200400"/>
            <a:ext cx="1325880" cy="960120"/>
          </a:xfrm>
          <a:prstGeom prst="rect">
            <a:avLst/>
          </a:prstGeom>
          <a:noFill/>
          <a:ln/>
        </p:spPr>
        <p:txBody>
          <a:bodyPr wrap="square" lIns="0" tIns="0" rIns="0" bIns="0" rtlCol="0" anchor="ctr"/>
          <a:lstStyle/>
          <a:p>
            <a:pPr algn="ctr" indent="0" marL="0">
              <a:buNone/>
            </a:pPr>
            <a:r>
              <a:rPr lang="en-US" sz="1800" b="1" dirty="0">
                <a:solidFill>
                  <a:schemeClr val="bg1"/>
                </a:solidFill>
              </a:rPr>
              <a:t>202</a:t>
            </a:r>
            <a:endParaRPr lang="en-US" sz="1800" dirty="0"/>
          </a:p>
          <a:p>
            <a:pPr algn="ctr" indent="0" marL="0">
              <a:buNone/>
            </a:pPr>
            <a:r>
              <a:rPr lang="en-US" sz="1100" dirty="0">
                <a:solidFill>
                  <a:schemeClr val="bg1"/>
                </a:solidFill>
              </a:rPr>
              <a:t>56%</a:t>
            </a:r>
            <a:endParaRPr lang="en-US" sz="1800" dirty="0"/>
          </a:p>
        </p:txBody>
      </p:sp>
      <p:sp>
        <p:nvSpPr>
          <p:cNvPr id="21" name="cm cell 12"/>
          <p:cNvSpPr/>
          <p:nvPr/>
        </p:nvSpPr>
        <p:spPr>
          <a:xfrm>
            <a:off x="4517136" y="3236976"/>
            <a:ext cx="1252728" cy="886968"/>
          </a:xfrm>
          <a:prstGeom prst="rect">
            <a:avLst/>
          </a:prstGeom>
          <a:solidFill>
            <a:schemeClr val="accent2">
              <a:alpha val="20000"/>
            </a:schemeClr>
          </a:solidFill>
          <a:ln/>
        </p:spPr>
      </p:sp>
      <p:sp>
        <p:nvSpPr>
          <p:cNvPr id="22" name="Text 20"/>
          <p:cNvSpPr txBox="1"/>
          <p:nvPr/>
        </p:nvSpPr>
        <p:spPr>
          <a:xfrm>
            <a:off x="4480560" y="3200400"/>
            <a:ext cx="1325880" cy="960120"/>
          </a:xfrm>
          <a:prstGeom prst="rect">
            <a:avLst/>
          </a:prstGeom>
          <a:noFill/>
          <a:ln/>
        </p:spPr>
        <p:txBody>
          <a:bodyPr wrap="square" lIns="0" tIns="0" rIns="0" bIns="0" rtlCol="0" anchor="ctr"/>
          <a:lstStyle/>
          <a:p>
            <a:pPr algn="ctr" indent="0" marL="0">
              <a:buNone/>
            </a:pPr>
            <a:r>
              <a:rPr lang="en-US" sz="1800" b="1" dirty="0">
                <a:solidFill>
                  <a:schemeClr val="tx1"/>
                </a:solidFill>
              </a:rPr>
              <a:t>34</a:t>
            </a:r>
            <a:endParaRPr lang="en-US" sz="1800" dirty="0"/>
          </a:p>
          <a:p>
            <a:pPr algn="ctr" indent="0" marL="0">
              <a:buNone/>
            </a:pPr>
            <a:r>
              <a:rPr lang="en-US" sz="1100" dirty="0">
                <a:solidFill>
                  <a:schemeClr val="tx1"/>
                </a:solidFill>
              </a:rPr>
              <a:t>9%</a:t>
            </a:r>
            <a:endParaRPr lang="en-US" sz="1800" dirty="0"/>
          </a:p>
        </p:txBody>
      </p:sp>
      <p:sp>
        <p:nvSpPr>
          <p:cNvPr id="23" name="Text 21"/>
          <p:cNvSpPr txBox="1"/>
          <p:nvPr/>
        </p:nvSpPr>
        <p:spPr>
          <a:xfrm>
            <a:off x="1005840" y="4160520"/>
            <a:ext cx="777240" cy="960120"/>
          </a:xfrm>
          <a:prstGeom prst="rect">
            <a:avLst/>
          </a:prstGeom>
          <a:noFill/>
          <a:ln/>
        </p:spPr>
        <p:txBody>
          <a:bodyPr wrap="square" lIns="0" tIns="0" rIns="0" bIns="0" rtlCol="0" anchor="ctr"/>
          <a:lstStyle/>
          <a:p>
            <a:pPr algn="r" indent="0" marL="0">
              <a:buNone/>
            </a:pPr>
            <a:r>
              <a:rPr lang="en-US" sz="1300" b="1" dirty="0">
                <a:solidFill>
                  <a:schemeClr val="tx1"/>
                </a:solidFill>
              </a:rPr>
              <a:t>High</a:t>
            </a:r>
            <a:endParaRPr lang="en-US" sz="1300" dirty="0"/>
          </a:p>
        </p:txBody>
      </p:sp>
      <p:sp>
        <p:nvSpPr>
          <p:cNvPr id="24" name="cm cell 20"/>
          <p:cNvSpPr/>
          <p:nvPr/>
        </p:nvSpPr>
        <p:spPr>
          <a:xfrm>
            <a:off x="1865376" y="4197096"/>
            <a:ext cx="1252728" cy="886968"/>
          </a:xfrm>
          <a:prstGeom prst="rect">
            <a:avLst/>
          </a:prstGeom>
          <a:solidFill>
            <a:schemeClr val="accent2">
              <a:alpha val="18000"/>
            </a:schemeClr>
          </a:solidFill>
          <a:ln/>
        </p:spPr>
      </p:sp>
      <p:sp>
        <p:nvSpPr>
          <p:cNvPr id="25" name="Text 23"/>
          <p:cNvSpPr txBox="1"/>
          <p:nvPr/>
        </p:nvSpPr>
        <p:spPr>
          <a:xfrm>
            <a:off x="1828800" y="4160520"/>
            <a:ext cx="1325880" cy="960120"/>
          </a:xfrm>
          <a:prstGeom prst="rect">
            <a:avLst/>
          </a:prstGeom>
          <a:noFill/>
          <a:ln/>
        </p:spPr>
        <p:txBody>
          <a:bodyPr wrap="square" lIns="0" tIns="0" rIns="0" bIns="0" rtlCol="0" anchor="ctr"/>
          <a:lstStyle/>
          <a:p>
            <a:pPr algn="ctr" indent="0" marL="0">
              <a:buNone/>
            </a:pPr>
            <a:r>
              <a:rPr lang="en-US" sz="1800" b="1" dirty="0">
                <a:solidFill>
                  <a:schemeClr val="tx1"/>
                </a:solidFill>
              </a:rPr>
              <a:t>15</a:t>
            </a:r>
            <a:endParaRPr lang="en-US" sz="1800" dirty="0"/>
          </a:p>
          <a:p>
            <a:pPr algn="ctr" indent="0" marL="0">
              <a:buNone/>
            </a:pPr>
            <a:r>
              <a:rPr lang="en-US" sz="1100" dirty="0">
                <a:solidFill>
                  <a:schemeClr val="tx1"/>
                </a:solidFill>
              </a:rPr>
              <a:t>8%</a:t>
            </a:r>
            <a:endParaRPr lang="en-US" sz="1800" dirty="0"/>
          </a:p>
        </p:txBody>
      </p:sp>
      <p:sp>
        <p:nvSpPr>
          <p:cNvPr id="26" name="cm cell 21"/>
          <p:cNvSpPr/>
          <p:nvPr/>
        </p:nvSpPr>
        <p:spPr>
          <a:xfrm>
            <a:off x="3191256" y="4197096"/>
            <a:ext cx="1252728" cy="886968"/>
          </a:xfrm>
          <a:prstGeom prst="rect">
            <a:avLst/>
          </a:prstGeom>
          <a:solidFill>
            <a:schemeClr val="accent2">
              <a:alpha val="62000"/>
            </a:schemeClr>
          </a:solidFill>
          <a:ln/>
        </p:spPr>
      </p:sp>
      <p:sp>
        <p:nvSpPr>
          <p:cNvPr id="27" name="Text 25"/>
          <p:cNvSpPr txBox="1"/>
          <p:nvPr/>
        </p:nvSpPr>
        <p:spPr>
          <a:xfrm>
            <a:off x="3154680" y="4160520"/>
            <a:ext cx="1325880" cy="960120"/>
          </a:xfrm>
          <a:prstGeom prst="rect">
            <a:avLst/>
          </a:prstGeom>
          <a:noFill/>
          <a:ln/>
        </p:spPr>
        <p:txBody>
          <a:bodyPr wrap="square" lIns="0" tIns="0" rIns="0" bIns="0" rtlCol="0" anchor="ctr"/>
          <a:lstStyle/>
          <a:p>
            <a:pPr algn="ctr" indent="0" marL="0">
              <a:buNone/>
            </a:pPr>
            <a:r>
              <a:rPr lang="en-US" sz="1800" b="1" dirty="0">
                <a:solidFill>
                  <a:schemeClr val="tx1"/>
                </a:solidFill>
              </a:rPr>
              <a:t>80</a:t>
            </a:r>
            <a:endParaRPr lang="en-US" sz="1800" dirty="0"/>
          </a:p>
          <a:p>
            <a:pPr algn="ctr" indent="0" marL="0">
              <a:buNone/>
            </a:pPr>
            <a:r>
              <a:rPr lang="en-US" sz="1100" dirty="0">
                <a:solidFill>
                  <a:schemeClr val="tx1"/>
                </a:solidFill>
              </a:rPr>
              <a:t>41%</a:t>
            </a:r>
            <a:endParaRPr lang="en-US" sz="1800" dirty="0"/>
          </a:p>
        </p:txBody>
      </p:sp>
      <p:sp>
        <p:nvSpPr>
          <p:cNvPr id="28" name="cm cell 22"/>
          <p:cNvSpPr/>
          <p:nvPr/>
        </p:nvSpPr>
        <p:spPr>
          <a:xfrm>
            <a:off x="4517136" y="4197096"/>
            <a:ext cx="1252728" cy="886968"/>
          </a:xfrm>
          <a:prstGeom prst="rect">
            <a:avLst/>
          </a:prstGeom>
          <a:solidFill>
            <a:schemeClr val="accent1">
              <a:alpha val="74000"/>
            </a:schemeClr>
          </a:solidFill>
          <a:ln/>
        </p:spPr>
      </p:sp>
      <p:sp>
        <p:nvSpPr>
          <p:cNvPr id="29" name="Text 27"/>
          <p:cNvSpPr txBox="1"/>
          <p:nvPr/>
        </p:nvSpPr>
        <p:spPr>
          <a:xfrm>
            <a:off x="4480560" y="4160520"/>
            <a:ext cx="1325880" cy="960120"/>
          </a:xfrm>
          <a:prstGeom prst="rect">
            <a:avLst/>
          </a:prstGeom>
          <a:noFill/>
          <a:ln/>
        </p:spPr>
        <p:txBody>
          <a:bodyPr wrap="square" lIns="0" tIns="0" rIns="0" bIns="0" rtlCol="0" anchor="ctr"/>
          <a:lstStyle/>
          <a:p>
            <a:pPr algn="ctr" indent="0" marL="0">
              <a:buNone/>
            </a:pPr>
            <a:r>
              <a:rPr lang="en-US" sz="1800" b="1" dirty="0">
                <a:solidFill>
                  <a:schemeClr val="bg1"/>
                </a:solidFill>
              </a:rPr>
              <a:t>98</a:t>
            </a:r>
            <a:endParaRPr lang="en-US" sz="1800" dirty="0"/>
          </a:p>
          <a:p>
            <a:pPr algn="ctr" indent="0" marL="0">
              <a:buNone/>
            </a:pPr>
            <a:r>
              <a:rPr lang="en-US" sz="1100" dirty="0">
                <a:solidFill>
                  <a:schemeClr val="bg1"/>
                </a:solidFill>
              </a:rPr>
              <a:t>51%</a:t>
            </a:r>
            <a:endParaRPr lang="en-US" sz="1800" dirty="0"/>
          </a:p>
        </p:txBody>
      </p:sp>
      <p:sp>
        <p:nvSpPr>
          <p:cNvPr id="30" name="Text 28"/>
          <p:cNvSpPr txBox="1"/>
          <p:nvPr/>
        </p:nvSpPr>
        <p:spPr>
          <a:xfrm>
            <a:off x="1005840" y="5212080"/>
            <a:ext cx="4846320" cy="274320"/>
          </a:xfrm>
          <a:prstGeom prst="rect">
            <a:avLst/>
          </a:prstGeom>
          <a:noFill/>
          <a:ln/>
        </p:spPr>
        <p:txBody>
          <a:bodyPr wrap="square" lIns="0" tIns="0" rIns="0" bIns="0" rtlCol="0" anchor="ctr"/>
          <a:lstStyle/>
          <a:p>
            <a:pPr indent="0" marL="0">
              <a:buNone/>
            </a:pPr>
            <a:r>
              <a:rPr lang="en-US" sz="1200" i="1" dirty="0">
                <a:solidFill>
                  <a:schemeClr val="accent5"/>
                </a:solidFill>
              </a:rPr>
              <a:t>Green diagonal = correct. % = share of each actual level.</a:t>
            </a:r>
            <a:endParaRPr lang="en-US" sz="1200" dirty="0"/>
          </a:p>
        </p:txBody>
      </p:sp>
      <p:graphicFrame>
        <p:nvGraphicFramePr>
          <p:cNvPr id="31" name="per class metrics chart" descr=""/>
          <p:cNvGraphicFramePr/>
          <p:nvPr/>
        </p:nvGraphicFramePr>
        <p:xfrm>
          <a:off x="6309360" y="1325880"/>
          <a:ext cx="5303520" cy="3657600"/>
        </p:xfrm>
        <a:graphic xmlns:a="http://schemas.openxmlformats.org/drawingml/2006/main">
          <a:graphicData uri="http://schemas.openxmlformats.org/drawingml/2006/chart">
            <c:chart xmlns:c="http://schemas.openxmlformats.org/drawingml/2006/chart" r:id="rId1"/>
          </a:graphicData>
        </a:graphic>
      </p:graphicFrame>
      <p:sp>
        <p:nvSpPr>
          <p:cNvPr id="32" name="insight card"/>
          <p:cNvSpPr/>
          <p:nvPr/>
        </p:nvSpPr>
        <p:spPr>
          <a:xfrm>
            <a:off x="6309360" y="5120640"/>
            <a:ext cx="5303520" cy="1097280"/>
          </a:xfrm>
          <a:prstGeom prst="roundRect">
            <a:avLst>
              <a:gd name="adj" fmla="val 10000"/>
            </a:avLst>
          </a:prstGeom>
          <a:solidFill>
            <a:schemeClr val="bg2"/>
          </a:solidFill>
          <a:ln/>
          <a:effectLst>
            <a:outerShdw sx="100000" sy="100000" kx="0" ky="0" algn="bl" rotWithShape="0" blurRad="76200" dist="25400" dir="5400000">
              <a:srgbClr val="1B2E1F">
                <a:alpha val="12000"/>
              </a:srgbClr>
            </a:outerShdw>
          </a:effectLst>
        </p:spPr>
      </p:sp>
      <p:sp>
        <p:nvSpPr>
          <p:cNvPr id="33" name="Text 30"/>
          <p:cNvSpPr txBox="1"/>
          <p:nvPr/>
        </p:nvSpPr>
        <p:spPr>
          <a:xfrm>
            <a:off x="6492240" y="5166360"/>
            <a:ext cx="4937760" cy="1005840"/>
          </a:xfrm>
          <a:prstGeom prst="rect">
            <a:avLst/>
          </a:prstGeom>
          <a:noFill/>
          <a:ln/>
        </p:spPr>
        <p:txBody>
          <a:bodyPr wrap="square" lIns="0" tIns="0" rIns="0" bIns="0" rtlCol="0" anchor="ctr"/>
          <a:lstStyle/>
          <a:p>
            <a:pPr indent="0" marL="0">
              <a:buNone/>
            </a:pPr>
            <a:r>
              <a:rPr lang="en-US" sz="1400" b="1" dirty="0">
                <a:solidFill>
                  <a:schemeClr val="accent1"/>
                </a:solidFill>
              </a:rPr>
              <a:t>Low-waste days are found 86% of the time. </a:t>
            </a:r>
            <a:pPr indent="0" marL="0">
              <a:buNone/>
            </a:pPr>
            <a:r>
              <a:rPr lang="en-US" sz="1400" dirty="0">
                <a:solidFill>
                  <a:schemeClr val="tx1"/>
                </a:solidFill>
              </a:rPr>
              <a:t>Most mistakes are between neighbouring levels, because real demand is unknown in the morning.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AI 2: finding the right organization for the food</a:t>
            </a:r>
            <a:endParaRPr lang="en-US" sz="3400" dirty="0"/>
          </a:p>
        </p:txBody>
      </p:sp>
      <p:graphicFrame>
        <p:nvGraphicFramePr>
          <p:cNvPr id="3" name="matching models chart" descr=""/>
          <p:cNvGraphicFramePr/>
          <p:nvPr/>
        </p:nvGraphicFramePr>
        <p:xfrm>
          <a:off x="548640" y="1325880"/>
          <a:ext cx="6766560" cy="3886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349240"/>
            <a:ext cx="6766560" cy="822960"/>
          </a:xfrm>
          <a:prstGeom prst="rect">
            <a:avLst/>
          </a:prstGeom>
          <a:noFill/>
          <a:ln/>
        </p:spPr>
        <p:txBody>
          <a:bodyPr wrap="square" lIns="0" tIns="0" rIns="0" bIns="0" rtlCol="0" anchor="t"/>
          <a:lstStyle/>
          <a:p>
            <a:pPr indent="0" marL="0">
              <a:buNone/>
            </a:pPr>
            <a:r>
              <a:rPr lang="en-US" sz="1400" b="1" dirty="0">
                <a:solidFill>
                  <a:schemeClr val="tx2"/>
                </a:solidFill>
              </a:rPr>
              <a:t>How it works: </a:t>
            </a:r>
            <a:pPr indent="0" marL="0">
              <a:buNone/>
            </a:pPr>
            <a:r>
              <a:rPr lang="en-US" sz="1400" dirty="0">
                <a:solidFill>
                  <a:schemeClr val="tx1"/>
                </a:solidFill>
              </a:rPr>
              <a:t>safety rules first remove organizations that cannot accept, store or receive the food in time; the AI then ranks the rest by chance of success.</a:t>
            </a:r>
            <a:endParaRPr lang="en-US" sz="1400" dirty="0"/>
          </a:p>
        </p:txBody>
      </p:sp>
      <p:sp>
        <p:nvSpPr>
          <p:cNvPr id="5" name="AI2 stat 1"/>
          <p:cNvSpPr/>
          <p:nvPr/>
        </p:nvSpPr>
        <p:spPr>
          <a:xfrm>
            <a:off x="7680960" y="1417320"/>
            <a:ext cx="3931920" cy="1051560"/>
          </a:xfrm>
          <a:prstGeom prst="roundRect">
            <a:avLst>
              <a:gd name="adj" fmla="val 10435"/>
            </a:avLst>
          </a:prstGeom>
          <a:solidFill>
            <a:schemeClr val="bg2"/>
          </a:solidFill>
          <a:ln/>
          <a:effectLst>
            <a:outerShdw sx="100000" sy="100000" kx="0" ky="0" algn="bl" rotWithShape="0" blurRad="76200" dist="25400" dir="5400000">
              <a:srgbClr val="1B2E1F">
                <a:alpha val="12000"/>
              </a:srgbClr>
            </a:outerShdw>
          </a:effectLst>
        </p:spPr>
      </p:sp>
      <p:sp>
        <p:nvSpPr>
          <p:cNvPr id="6" name="Text 3"/>
          <p:cNvSpPr txBox="1"/>
          <p:nvPr/>
        </p:nvSpPr>
        <p:spPr>
          <a:xfrm>
            <a:off x="7863840" y="1527048"/>
            <a:ext cx="160020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81.1%</a:t>
            </a:r>
            <a:endParaRPr lang="en-US" sz="3000" dirty="0"/>
          </a:p>
        </p:txBody>
      </p:sp>
      <p:sp>
        <p:nvSpPr>
          <p:cNvPr id="7" name="Text 4"/>
          <p:cNvSpPr txBox="1"/>
          <p:nvPr/>
        </p:nvSpPr>
        <p:spPr>
          <a:xfrm>
            <a:off x="9509760" y="1527048"/>
            <a:ext cx="2011680" cy="822960"/>
          </a:xfrm>
          <a:prstGeom prst="rect">
            <a:avLst/>
          </a:prstGeom>
          <a:noFill/>
          <a:ln/>
        </p:spPr>
        <p:txBody>
          <a:bodyPr wrap="square" lIns="0" tIns="0" rIns="0" bIns="0" rtlCol="0" anchor="ctr"/>
          <a:lstStyle/>
          <a:p>
            <a:pPr indent="0" marL="0">
              <a:buNone/>
            </a:pPr>
            <a:r>
              <a:rPr lang="en-US" sz="1500" b="1" dirty="0">
                <a:solidFill>
                  <a:schemeClr val="tx1"/>
                </a:solidFill>
              </a:rPr>
              <a:t>Accuracy</a:t>
            </a:r>
            <a:endParaRPr lang="en-US" sz="1500" dirty="0"/>
          </a:p>
          <a:p>
            <a:pPr indent="0" marL="0">
              <a:buNone/>
            </a:pPr>
            <a:r>
              <a:rPr lang="en-US" sz="1200" dirty="0">
                <a:solidFill>
                  <a:schemeClr val="accent5"/>
                </a:solidFill>
              </a:rPr>
              <a:t>Gradient Boosting · baseline 59.3%</a:t>
            </a:r>
            <a:endParaRPr lang="en-US" sz="1500" dirty="0"/>
          </a:p>
        </p:txBody>
      </p:sp>
      <p:sp>
        <p:nvSpPr>
          <p:cNvPr id="8" name="AI2 stat 2"/>
          <p:cNvSpPr/>
          <p:nvPr/>
        </p:nvSpPr>
        <p:spPr>
          <a:xfrm>
            <a:off x="7680960" y="2624328"/>
            <a:ext cx="3931920" cy="1051560"/>
          </a:xfrm>
          <a:prstGeom prst="roundRect">
            <a:avLst>
              <a:gd name="adj" fmla="val 10435"/>
            </a:avLst>
          </a:prstGeom>
          <a:solidFill>
            <a:schemeClr val="bg2"/>
          </a:solidFill>
          <a:ln/>
          <a:effectLst>
            <a:outerShdw sx="100000" sy="100000" kx="0" ky="0" algn="bl" rotWithShape="0" blurRad="76200" dist="25400" dir="5400000">
              <a:srgbClr val="1B2E1F">
                <a:alpha val="12000"/>
              </a:srgbClr>
            </a:outerShdw>
          </a:effectLst>
        </p:spPr>
      </p:sp>
      <p:sp>
        <p:nvSpPr>
          <p:cNvPr id="9" name="Text 6"/>
          <p:cNvSpPr txBox="1"/>
          <p:nvPr/>
        </p:nvSpPr>
        <p:spPr>
          <a:xfrm>
            <a:off x="7863840" y="2734056"/>
            <a:ext cx="1600200" cy="82296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0.84</a:t>
            </a:r>
            <a:endParaRPr lang="en-US" sz="3000" dirty="0"/>
          </a:p>
        </p:txBody>
      </p:sp>
      <p:sp>
        <p:nvSpPr>
          <p:cNvPr id="10" name="Text 7"/>
          <p:cNvSpPr txBox="1"/>
          <p:nvPr/>
        </p:nvSpPr>
        <p:spPr>
          <a:xfrm>
            <a:off x="9509760" y="2734056"/>
            <a:ext cx="2011680" cy="822960"/>
          </a:xfrm>
          <a:prstGeom prst="rect">
            <a:avLst/>
          </a:prstGeom>
          <a:noFill/>
          <a:ln/>
        </p:spPr>
        <p:txBody>
          <a:bodyPr wrap="square" lIns="0" tIns="0" rIns="0" bIns="0" rtlCol="0" anchor="ctr"/>
          <a:lstStyle/>
          <a:p>
            <a:pPr indent="0" marL="0">
              <a:buNone/>
            </a:pPr>
            <a:r>
              <a:rPr lang="en-US" sz="1500" b="1" dirty="0">
                <a:solidFill>
                  <a:schemeClr val="tx1"/>
                </a:solidFill>
              </a:rPr>
              <a:t>Recall</a:t>
            </a:r>
            <a:endParaRPr lang="en-US" sz="1500" dirty="0"/>
          </a:p>
          <a:p>
            <a:pPr indent="0" marL="0">
              <a:buNone/>
            </a:pPr>
            <a:r>
              <a:rPr lang="en-US" sz="1200" dirty="0">
                <a:solidFill>
                  <a:schemeClr val="accent5"/>
                </a:solidFill>
              </a:rPr>
              <a:t>finds 84% of successful matches</a:t>
            </a:r>
            <a:endParaRPr lang="en-US" sz="1500" dirty="0"/>
          </a:p>
        </p:txBody>
      </p:sp>
      <p:sp>
        <p:nvSpPr>
          <p:cNvPr id="11" name="AI2 stat 3"/>
          <p:cNvSpPr/>
          <p:nvPr/>
        </p:nvSpPr>
        <p:spPr>
          <a:xfrm>
            <a:off x="7680960" y="3831336"/>
            <a:ext cx="3931920" cy="1051560"/>
          </a:xfrm>
          <a:prstGeom prst="roundRect">
            <a:avLst>
              <a:gd name="adj" fmla="val 10435"/>
            </a:avLst>
          </a:prstGeom>
          <a:solidFill>
            <a:schemeClr val="bg2"/>
          </a:solidFill>
          <a:ln/>
          <a:effectLst>
            <a:outerShdw sx="100000" sy="100000" kx="0" ky="0" algn="bl" rotWithShape="0" blurRad="76200" dist="25400" dir="5400000">
              <a:srgbClr val="1B2E1F">
                <a:alpha val="12000"/>
              </a:srgbClr>
            </a:outerShdw>
          </a:effectLst>
        </p:spPr>
      </p:sp>
      <p:sp>
        <p:nvSpPr>
          <p:cNvPr id="12" name="Text 9"/>
          <p:cNvSpPr txBox="1"/>
          <p:nvPr/>
        </p:nvSpPr>
        <p:spPr>
          <a:xfrm>
            <a:off x="7863840" y="3941064"/>
            <a:ext cx="1600200"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0.877</a:t>
            </a:r>
            <a:endParaRPr lang="en-US" sz="3000" dirty="0"/>
          </a:p>
        </p:txBody>
      </p:sp>
      <p:sp>
        <p:nvSpPr>
          <p:cNvPr id="13" name="Text 10"/>
          <p:cNvSpPr txBox="1"/>
          <p:nvPr/>
        </p:nvSpPr>
        <p:spPr>
          <a:xfrm>
            <a:off x="9509760" y="3941064"/>
            <a:ext cx="2011680" cy="822960"/>
          </a:xfrm>
          <a:prstGeom prst="rect">
            <a:avLst/>
          </a:prstGeom>
          <a:noFill/>
          <a:ln/>
        </p:spPr>
        <p:txBody>
          <a:bodyPr wrap="square" lIns="0" tIns="0" rIns="0" bIns="0" rtlCol="0" anchor="ctr"/>
          <a:lstStyle/>
          <a:p>
            <a:pPr indent="0" marL="0">
              <a:buNone/>
            </a:pPr>
            <a:r>
              <a:rPr lang="en-US" sz="1500" b="1" dirty="0">
                <a:solidFill>
                  <a:schemeClr val="tx1"/>
                </a:solidFill>
              </a:rPr>
              <a:t>ROC-AUC</a:t>
            </a:r>
            <a:endParaRPr lang="en-US" sz="1500" dirty="0"/>
          </a:p>
          <a:p>
            <a:pPr indent="0" marL="0">
              <a:buNone/>
            </a:pPr>
            <a:r>
              <a:rPr lang="en-US" sz="1200" dirty="0">
                <a:solidFill>
                  <a:schemeClr val="accent5"/>
                </a:solidFill>
              </a:rPr>
              <a:t>strong at ranking organizations</a:t>
            </a:r>
            <a:endParaRPr lang="en-US" sz="1500" dirty="0"/>
          </a:p>
        </p:txBody>
      </p:sp>
      <p:sp>
        <p:nvSpPr>
          <p:cNvPr id="14" name="synthetic warning"/>
          <p:cNvSpPr/>
          <p:nvPr/>
        </p:nvSpPr>
        <p:spPr>
          <a:xfrm>
            <a:off x="7680960" y="5074920"/>
            <a:ext cx="3931920" cy="1097280"/>
          </a:xfrm>
          <a:prstGeom prst="roundRect">
            <a:avLst>
              <a:gd name="adj" fmla="val 10000"/>
            </a:avLst>
          </a:prstGeom>
          <a:solidFill>
            <a:srgbClr val="FDF1E7"/>
          </a:solidFill>
          <a:ln/>
          <a:effectLst>
            <a:outerShdw sx="100000" sy="100000" kx="0" ky="0" algn="bl" rotWithShape="0" blurRad="76200" dist="25400" dir="5400000">
              <a:srgbClr val="1B2E1F">
                <a:alpha val="12000"/>
              </a:srgbClr>
            </a:outerShdw>
          </a:effectLst>
        </p:spPr>
      </p:sp>
      <p:sp>
        <p:nvSpPr>
          <p:cNvPr id="15" name="warning circle"/>
          <p:cNvSpPr/>
          <p:nvPr/>
        </p:nvSpPr>
        <p:spPr>
          <a:xfrm>
            <a:off x="7863840" y="5257800"/>
            <a:ext cx="548640" cy="548640"/>
          </a:xfrm>
          <a:prstGeom prst="ellipse">
            <a:avLst/>
          </a:prstGeom>
          <a:solidFill>
            <a:schemeClr val="accent2"/>
          </a:solidFill>
          <a:ln/>
        </p:spPr>
      </p:sp>
      <p:pic>
        <p:nvPicPr>
          <p:cNvPr id="16" name="warning icon" descr="preencoded.png">    </p:cNvPr>
          <p:cNvPicPr>
            <a:picLocks noChangeAspect="1"/>
          </p:cNvPicPr>
          <p:nvPr/>
        </p:nvPicPr>
        <p:blipFill>
          <a:blip r:embed="rId2"/>
          <a:stretch>
            <a:fillRect/>
          </a:stretch>
        </p:blipFill>
        <p:spPr>
          <a:xfrm>
            <a:off x="8001000" y="5394960"/>
            <a:ext cx="274320" cy="274320"/>
          </a:xfrm>
          <a:prstGeom prst="rect">
            <a:avLst/>
          </a:prstGeom>
        </p:spPr>
      </p:pic>
      <p:sp>
        <p:nvSpPr>
          <p:cNvPr id="17" name="Text 13"/>
          <p:cNvSpPr txBox="1"/>
          <p:nvPr/>
        </p:nvSpPr>
        <p:spPr>
          <a:xfrm>
            <a:off x="8549640" y="5120640"/>
            <a:ext cx="2971800" cy="1005840"/>
          </a:xfrm>
          <a:prstGeom prst="rect">
            <a:avLst/>
          </a:prstGeom>
          <a:noFill/>
          <a:ln/>
        </p:spPr>
        <p:txBody>
          <a:bodyPr wrap="square" lIns="0" tIns="0" rIns="0" bIns="0" rtlCol="0" anchor="ctr"/>
          <a:lstStyle/>
          <a:p>
            <a:pPr indent="0" marL="0">
              <a:buNone/>
            </a:pPr>
            <a:r>
              <a:rPr lang="en-US" sz="1200" dirty="0">
                <a:solidFill>
                  <a:schemeClr val="tx1"/>
                </a:solidFill>
              </a:rPr>
              <a:t>Trained on synthetic data: it proves the method works; real delivery records are needed before real-world claims.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it is built and tested</a:t>
            </a:r>
            <a:endParaRPr lang="en-US" sz="3400" dirty="0"/>
          </a:p>
        </p:txBody>
      </p:sp>
      <p:sp>
        <p:nvSpPr>
          <p:cNvPr id="3" name="arch 1 circle"/>
          <p:cNvSpPr/>
          <p:nvPr/>
        </p:nvSpPr>
        <p:spPr>
          <a:xfrm>
            <a:off x="1280160" y="1463040"/>
            <a:ext cx="1005840" cy="1005840"/>
          </a:xfrm>
          <a:prstGeom prst="ellipse">
            <a:avLst/>
          </a:prstGeom>
          <a:solidFill>
            <a:schemeClr val="accent2"/>
          </a:solidFill>
          <a:ln/>
        </p:spPr>
      </p:sp>
      <p:pic>
        <p:nvPicPr>
          <p:cNvPr id="4" name="arch 1 icon" descr="preencoded.png">    </p:cNvPr>
          <p:cNvPicPr>
            <a:picLocks noChangeAspect="1"/>
          </p:cNvPicPr>
          <p:nvPr/>
        </p:nvPicPr>
        <p:blipFill>
          <a:blip r:embed="rId1"/>
          <a:stretch>
            <a:fillRect/>
          </a:stretch>
        </p:blipFill>
        <p:spPr>
          <a:xfrm>
            <a:off x="1531620" y="1714500"/>
            <a:ext cx="502920" cy="502920"/>
          </a:xfrm>
          <a:prstGeom prst="rect">
            <a:avLst/>
          </a:prstGeom>
        </p:spPr>
      </p:pic>
      <p:sp>
        <p:nvSpPr>
          <p:cNvPr id="5" name="Text 2"/>
          <p:cNvSpPr txBox="1"/>
          <p:nvPr/>
        </p:nvSpPr>
        <p:spPr>
          <a:xfrm>
            <a:off x="548640" y="2606040"/>
            <a:ext cx="2468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Python notebooks</a:t>
            </a:r>
            <a:endParaRPr lang="en-US" sz="1800" dirty="0"/>
          </a:p>
        </p:txBody>
      </p:sp>
      <p:sp>
        <p:nvSpPr>
          <p:cNvPr id="6" name="Text 3"/>
          <p:cNvSpPr txBox="1"/>
          <p:nvPr/>
        </p:nvSpPr>
        <p:spPr>
          <a:xfrm>
            <a:off x="640080" y="3017520"/>
            <a:ext cx="2286000" cy="731520"/>
          </a:xfrm>
          <a:prstGeom prst="rect">
            <a:avLst/>
          </a:prstGeom>
          <a:noFill/>
          <a:ln/>
        </p:spPr>
        <p:txBody>
          <a:bodyPr wrap="square" lIns="0" tIns="0" rIns="0" bIns="0" rtlCol="0" anchor="t"/>
          <a:lstStyle/>
          <a:p>
            <a:pPr algn="ctr" indent="0" marL="0">
              <a:buNone/>
            </a:pPr>
            <a:r>
              <a:rPr lang="en-US" sz="1300" dirty="0">
                <a:solidFill>
                  <a:schemeClr val="tx1"/>
                </a:solidFill>
              </a:rPr>
              <a:t>pandas · scikit-learn · cleaning, training, evaluation</a:t>
            </a:r>
            <a:endParaRPr lang="en-US" sz="1300" dirty="0"/>
          </a:p>
        </p:txBody>
      </p:sp>
      <p:sp>
        <p:nvSpPr>
          <p:cNvPr id="7" name="arch arrow 1"/>
          <p:cNvSpPr/>
          <p:nvPr/>
        </p:nvSpPr>
        <p:spPr>
          <a:xfrm>
            <a:off x="3063240" y="1783080"/>
            <a:ext cx="274320" cy="365760"/>
          </a:xfrm>
          <a:prstGeom prst="rightArrow">
            <a:avLst/>
          </a:prstGeom>
          <a:solidFill>
            <a:schemeClr val="accent5"/>
          </a:solidFill>
          <a:ln/>
        </p:spPr>
      </p:sp>
      <p:sp>
        <p:nvSpPr>
          <p:cNvPr id="8" name="arch 2 circle"/>
          <p:cNvSpPr/>
          <p:nvPr/>
        </p:nvSpPr>
        <p:spPr>
          <a:xfrm>
            <a:off x="4114800" y="1463040"/>
            <a:ext cx="1005840" cy="1005840"/>
          </a:xfrm>
          <a:prstGeom prst="ellipse">
            <a:avLst/>
          </a:prstGeom>
          <a:solidFill>
            <a:schemeClr val="accent1"/>
          </a:solidFill>
          <a:ln/>
        </p:spPr>
      </p:sp>
      <p:pic>
        <p:nvPicPr>
          <p:cNvPr id="9" name="arch 2 icon" descr="preencoded.png">    </p:cNvPr>
          <p:cNvPicPr>
            <a:picLocks noChangeAspect="1"/>
          </p:cNvPicPr>
          <p:nvPr/>
        </p:nvPicPr>
        <p:blipFill>
          <a:blip r:embed="rId2"/>
          <a:stretch>
            <a:fillRect/>
          </a:stretch>
        </p:blipFill>
        <p:spPr>
          <a:xfrm>
            <a:off x="4366260" y="1714500"/>
            <a:ext cx="502920" cy="502920"/>
          </a:xfrm>
          <a:prstGeom prst="rect">
            <a:avLst/>
          </a:prstGeom>
        </p:spPr>
      </p:pic>
      <p:sp>
        <p:nvSpPr>
          <p:cNvPr id="10" name="Text 6"/>
          <p:cNvSpPr txBox="1"/>
          <p:nvPr/>
        </p:nvSpPr>
        <p:spPr>
          <a:xfrm>
            <a:off x="3383280" y="2606040"/>
            <a:ext cx="2468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Exported AI models</a:t>
            </a:r>
            <a:endParaRPr lang="en-US" sz="1800" dirty="0"/>
          </a:p>
        </p:txBody>
      </p:sp>
      <p:sp>
        <p:nvSpPr>
          <p:cNvPr id="11" name="Text 7"/>
          <p:cNvSpPr txBox="1"/>
          <p:nvPr/>
        </p:nvSpPr>
        <p:spPr>
          <a:xfrm>
            <a:off x="3474720" y="3017520"/>
            <a:ext cx="2286000" cy="731520"/>
          </a:xfrm>
          <a:prstGeom prst="rect">
            <a:avLst/>
          </a:prstGeom>
          <a:noFill/>
          <a:ln/>
        </p:spPr>
        <p:txBody>
          <a:bodyPr wrap="square" lIns="0" tIns="0" rIns="0" bIns="0" rtlCol="0" anchor="t"/>
          <a:lstStyle/>
          <a:p>
            <a:pPr algn="ctr" indent="0" marL="0">
              <a:buNone/>
            </a:pPr>
            <a:r>
              <a:rPr lang="en-US" sz="1300" dirty="0">
                <a:solidFill>
                  <a:schemeClr val="tx1"/>
                </a:solidFill>
              </a:rPr>
              <a:t>Models saved as files the web app can read</a:t>
            </a:r>
            <a:endParaRPr lang="en-US" sz="1300" dirty="0"/>
          </a:p>
        </p:txBody>
      </p:sp>
      <p:sp>
        <p:nvSpPr>
          <p:cNvPr id="12" name="arch arrow 2"/>
          <p:cNvSpPr/>
          <p:nvPr/>
        </p:nvSpPr>
        <p:spPr>
          <a:xfrm>
            <a:off x="5897880" y="1783080"/>
            <a:ext cx="274320" cy="365760"/>
          </a:xfrm>
          <a:prstGeom prst="rightArrow">
            <a:avLst/>
          </a:prstGeom>
          <a:solidFill>
            <a:schemeClr val="accent5"/>
          </a:solidFill>
          <a:ln/>
        </p:spPr>
      </p:sp>
      <p:sp>
        <p:nvSpPr>
          <p:cNvPr id="13" name="arch 3 circle"/>
          <p:cNvSpPr/>
          <p:nvPr/>
        </p:nvSpPr>
        <p:spPr>
          <a:xfrm>
            <a:off x="6949440" y="1463040"/>
            <a:ext cx="1005840" cy="1005840"/>
          </a:xfrm>
          <a:prstGeom prst="ellipse">
            <a:avLst/>
          </a:prstGeom>
          <a:solidFill>
            <a:schemeClr val="tx2"/>
          </a:solidFill>
          <a:ln/>
        </p:spPr>
      </p:sp>
      <p:pic>
        <p:nvPicPr>
          <p:cNvPr id="14" name="arch 3 icon" descr="preencoded.png">    </p:cNvPr>
          <p:cNvPicPr>
            <a:picLocks noChangeAspect="1"/>
          </p:cNvPicPr>
          <p:nvPr/>
        </p:nvPicPr>
        <p:blipFill>
          <a:blip r:embed="rId3"/>
          <a:stretch>
            <a:fillRect/>
          </a:stretch>
        </p:blipFill>
        <p:spPr>
          <a:xfrm>
            <a:off x="7200900" y="1714500"/>
            <a:ext cx="502920" cy="502920"/>
          </a:xfrm>
          <a:prstGeom prst="rect">
            <a:avLst/>
          </a:prstGeom>
        </p:spPr>
      </p:pic>
      <p:sp>
        <p:nvSpPr>
          <p:cNvPr id="15" name="Text 10"/>
          <p:cNvSpPr txBox="1"/>
          <p:nvPr/>
        </p:nvSpPr>
        <p:spPr>
          <a:xfrm>
            <a:off x="6217920" y="2606040"/>
            <a:ext cx="2468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Next.js web app</a:t>
            </a:r>
            <a:endParaRPr lang="en-US" sz="1800" dirty="0"/>
          </a:p>
        </p:txBody>
      </p:sp>
      <p:sp>
        <p:nvSpPr>
          <p:cNvPr id="16" name="Text 11"/>
          <p:cNvSpPr txBox="1"/>
          <p:nvPr/>
        </p:nvSpPr>
        <p:spPr>
          <a:xfrm>
            <a:off x="6309360" y="3017520"/>
            <a:ext cx="2286000" cy="731520"/>
          </a:xfrm>
          <a:prstGeom prst="rect">
            <a:avLst/>
          </a:prstGeom>
          <a:noFill/>
          <a:ln/>
        </p:spPr>
        <p:txBody>
          <a:bodyPr wrap="square" lIns="0" tIns="0" rIns="0" bIns="0" rtlCol="0" anchor="t"/>
          <a:lstStyle/>
          <a:p>
            <a:pPr algn="ctr" indent="0" marL="0">
              <a:buNone/>
            </a:pPr>
            <a:r>
              <a:rPr lang="en-US" sz="1300" dirty="0">
                <a:solidFill>
                  <a:schemeClr val="tx1"/>
                </a:solidFill>
              </a:rPr>
              <a:t>TypeScript · runs the AI instantly, no Python needed</a:t>
            </a:r>
            <a:endParaRPr lang="en-US" sz="1300" dirty="0"/>
          </a:p>
        </p:txBody>
      </p:sp>
      <p:sp>
        <p:nvSpPr>
          <p:cNvPr id="17" name="arch arrow 3"/>
          <p:cNvSpPr/>
          <p:nvPr/>
        </p:nvSpPr>
        <p:spPr>
          <a:xfrm>
            <a:off x="8732520" y="1783080"/>
            <a:ext cx="274320" cy="365760"/>
          </a:xfrm>
          <a:prstGeom prst="rightArrow">
            <a:avLst/>
          </a:prstGeom>
          <a:solidFill>
            <a:schemeClr val="accent5"/>
          </a:solidFill>
          <a:ln/>
        </p:spPr>
      </p:sp>
      <p:sp>
        <p:nvSpPr>
          <p:cNvPr id="18" name="arch 4 circle"/>
          <p:cNvSpPr/>
          <p:nvPr/>
        </p:nvSpPr>
        <p:spPr>
          <a:xfrm>
            <a:off x="9784080" y="1463040"/>
            <a:ext cx="1005840" cy="1005840"/>
          </a:xfrm>
          <a:prstGeom prst="ellipse">
            <a:avLst/>
          </a:prstGeom>
          <a:solidFill>
            <a:schemeClr val="accent5"/>
          </a:solidFill>
          <a:ln/>
        </p:spPr>
      </p:sp>
      <p:pic>
        <p:nvPicPr>
          <p:cNvPr id="19" name="arch 4 icon" descr="preencoded.png">    </p:cNvPr>
          <p:cNvPicPr>
            <a:picLocks noChangeAspect="1"/>
          </p:cNvPicPr>
          <p:nvPr/>
        </p:nvPicPr>
        <p:blipFill>
          <a:blip r:embed="rId4"/>
          <a:stretch>
            <a:fillRect/>
          </a:stretch>
        </p:blipFill>
        <p:spPr>
          <a:xfrm>
            <a:off x="10035540" y="1714500"/>
            <a:ext cx="502920" cy="502920"/>
          </a:xfrm>
          <a:prstGeom prst="rect">
            <a:avLst/>
          </a:prstGeom>
        </p:spPr>
      </p:pic>
      <p:sp>
        <p:nvSpPr>
          <p:cNvPr id="20" name="Text 14"/>
          <p:cNvSpPr txBox="1"/>
          <p:nvPr/>
        </p:nvSpPr>
        <p:spPr>
          <a:xfrm>
            <a:off x="9052560" y="2606040"/>
            <a:ext cx="2468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SQLite database</a:t>
            </a:r>
            <a:endParaRPr lang="en-US" sz="1800" dirty="0"/>
          </a:p>
        </p:txBody>
      </p:sp>
      <p:sp>
        <p:nvSpPr>
          <p:cNvPr id="21" name="Text 15"/>
          <p:cNvSpPr txBox="1"/>
          <p:nvPr/>
        </p:nvSpPr>
        <p:spPr>
          <a:xfrm>
            <a:off x="9144000" y="3017520"/>
            <a:ext cx="2286000" cy="731520"/>
          </a:xfrm>
          <a:prstGeom prst="rect">
            <a:avLst/>
          </a:prstGeom>
          <a:noFill/>
          <a:ln/>
        </p:spPr>
        <p:txBody>
          <a:bodyPr wrap="square" lIns="0" tIns="0" rIns="0" bIns="0" rtlCol="0" anchor="t"/>
          <a:lstStyle/>
          <a:p>
            <a:pPr algn="ctr" indent="0" marL="0">
              <a:buNone/>
            </a:pPr>
            <a:r>
              <a:rPr lang="en-US" sz="1300" dirty="0">
                <a:solidFill>
                  <a:schemeClr val="tx1"/>
                </a:solidFill>
              </a:rPr>
              <a:t>Users, donations, forecasts, audit log</a:t>
            </a:r>
            <a:endParaRPr lang="en-US" sz="1300" dirty="0"/>
          </a:p>
        </p:txBody>
      </p:sp>
      <p:sp>
        <p:nvSpPr>
          <p:cNvPr id="22" name="quality card 1"/>
          <p:cNvSpPr/>
          <p:nvPr/>
        </p:nvSpPr>
        <p:spPr>
          <a:xfrm>
            <a:off x="548640" y="4069080"/>
            <a:ext cx="3520440" cy="1783080"/>
          </a:xfrm>
          <a:prstGeom prst="roundRect">
            <a:avLst>
              <a:gd name="adj" fmla="val 6154"/>
            </a:avLst>
          </a:prstGeom>
          <a:solidFill>
            <a:schemeClr val="bg2"/>
          </a:solidFill>
          <a:ln/>
          <a:effectLst>
            <a:outerShdw sx="100000" sy="100000" kx="0" ky="0" algn="bl" rotWithShape="0" blurRad="76200" dist="25400" dir="5400000">
              <a:srgbClr val="1B2E1F">
                <a:alpha val="12000"/>
              </a:srgbClr>
            </a:outerShdw>
          </a:effectLst>
        </p:spPr>
      </p:sp>
      <p:sp>
        <p:nvSpPr>
          <p:cNvPr id="23" name="quality 1 circle"/>
          <p:cNvSpPr/>
          <p:nvPr/>
        </p:nvSpPr>
        <p:spPr>
          <a:xfrm>
            <a:off x="777240" y="4297680"/>
            <a:ext cx="640080" cy="640080"/>
          </a:xfrm>
          <a:prstGeom prst="ellipse">
            <a:avLst/>
          </a:prstGeom>
          <a:solidFill>
            <a:schemeClr val="accent1"/>
          </a:solidFill>
          <a:ln/>
        </p:spPr>
      </p:sp>
      <p:pic>
        <p:nvPicPr>
          <p:cNvPr id="24" name="quality 1 icon" descr="preencoded.png">    </p:cNvPr>
          <p:cNvPicPr>
            <a:picLocks noChangeAspect="1"/>
          </p:cNvPicPr>
          <p:nvPr/>
        </p:nvPicPr>
        <p:blipFill>
          <a:blip r:embed="rId5"/>
          <a:stretch>
            <a:fillRect/>
          </a:stretch>
        </p:blipFill>
        <p:spPr>
          <a:xfrm>
            <a:off x="937260" y="4457700"/>
            <a:ext cx="320040" cy="320040"/>
          </a:xfrm>
          <a:prstGeom prst="rect">
            <a:avLst/>
          </a:prstGeom>
        </p:spPr>
      </p:pic>
      <p:sp>
        <p:nvSpPr>
          <p:cNvPr id="25" name="Text 18"/>
          <p:cNvSpPr txBox="1"/>
          <p:nvPr/>
        </p:nvSpPr>
        <p:spPr>
          <a:xfrm>
            <a:off x="1554480" y="4297680"/>
            <a:ext cx="2377440" cy="64008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&lt; 0.000001</a:t>
            </a:r>
            <a:endParaRPr lang="en-US" sz="2400" dirty="0"/>
          </a:p>
        </p:txBody>
      </p:sp>
      <p:sp>
        <p:nvSpPr>
          <p:cNvPr id="26" name="Text 19"/>
          <p:cNvSpPr txBox="1"/>
          <p:nvPr/>
        </p:nvSpPr>
        <p:spPr>
          <a:xfrm>
            <a:off x="777240" y="5074920"/>
            <a:ext cx="3108960" cy="868680"/>
          </a:xfrm>
          <a:prstGeom prst="rect">
            <a:avLst/>
          </a:prstGeom>
          <a:noFill/>
          <a:ln/>
        </p:spPr>
        <p:txBody>
          <a:bodyPr wrap="square" lIns="0" tIns="0" rIns="0" bIns="0" rtlCol="0" anchor="t"/>
          <a:lstStyle/>
          <a:p>
            <a:pPr indent="0" marL="0">
              <a:buNone/>
            </a:pPr>
            <a:r>
              <a:rPr lang="en-US" sz="1400" dirty="0">
                <a:solidFill>
                  <a:schemeClr val="tx1"/>
                </a:solidFill>
              </a:rPr>
              <a:t>difference between the app’s AI and Python — identical predictions</a:t>
            </a:r>
            <a:endParaRPr lang="en-US" sz="1400" dirty="0"/>
          </a:p>
        </p:txBody>
      </p:sp>
      <p:sp>
        <p:nvSpPr>
          <p:cNvPr id="27" name="quality card 2"/>
          <p:cNvSpPr/>
          <p:nvPr/>
        </p:nvSpPr>
        <p:spPr>
          <a:xfrm>
            <a:off x="4297680" y="4069080"/>
            <a:ext cx="3520440" cy="1783080"/>
          </a:xfrm>
          <a:prstGeom prst="roundRect">
            <a:avLst>
              <a:gd name="adj" fmla="val 6154"/>
            </a:avLst>
          </a:prstGeom>
          <a:solidFill>
            <a:schemeClr val="bg2"/>
          </a:solidFill>
          <a:ln/>
          <a:effectLst>
            <a:outerShdw sx="100000" sy="100000" kx="0" ky="0" algn="bl" rotWithShape="0" blurRad="76200" dist="25400" dir="5400000">
              <a:srgbClr val="1B2E1F">
                <a:alpha val="12000"/>
              </a:srgbClr>
            </a:outerShdw>
          </a:effectLst>
        </p:spPr>
      </p:sp>
      <p:sp>
        <p:nvSpPr>
          <p:cNvPr id="28" name="quality 2 circle"/>
          <p:cNvSpPr/>
          <p:nvPr/>
        </p:nvSpPr>
        <p:spPr>
          <a:xfrm>
            <a:off x="4526280" y="4297680"/>
            <a:ext cx="640080" cy="640080"/>
          </a:xfrm>
          <a:prstGeom prst="ellipse">
            <a:avLst/>
          </a:prstGeom>
          <a:solidFill>
            <a:schemeClr val="accent1"/>
          </a:solidFill>
          <a:ln/>
        </p:spPr>
      </p:sp>
      <p:pic>
        <p:nvPicPr>
          <p:cNvPr id="29" name="quality 2 icon" descr="preencoded.png">    </p:cNvPr>
          <p:cNvPicPr>
            <a:picLocks noChangeAspect="1"/>
          </p:cNvPicPr>
          <p:nvPr/>
        </p:nvPicPr>
        <p:blipFill>
          <a:blip r:embed="rId6"/>
          <a:stretch>
            <a:fillRect/>
          </a:stretch>
        </p:blipFill>
        <p:spPr>
          <a:xfrm>
            <a:off x="4686300" y="4457700"/>
            <a:ext cx="320040" cy="320040"/>
          </a:xfrm>
          <a:prstGeom prst="rect">
            <a:avLst/>
          </a:prstGeom>
        </p:spPr>
      </p:pic>
      <p:sp>
        <p:nvSpPr>
          <p:cNvPr id="30" name="Text 22"/>
          <p:cNvSpPr txBox="1"/>
          <p:nvPr/>
        </p:nvSpPr>
        <p:spPr>
          <a:xfrm>
            <a:off x="5303520" y="4297680"/>
            <a:ext cx="2377440" cy="64008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50 / 50</a:t>
            </a:r>
            <a:endParaRPr lang="en-US" sz="2400" dirty="0"/>
          </a:p>
        </p:txBody>
      </p:sp>
      <p:sp>
        <p:nvSpPr>
          <p:cNvPr id="31" name="Text 23"/>
          <p:cNvSpPr txBox="1"/>
          <p:nvPr/>
        </p:nvSpPr>
        <p:spPr>
          <a:xfrm>
            <a:off x="4526280" y="5074920"/>
            <a:ext cx="3108960" cy="868680"/>
          </a:xfrm>
          <a:prstGeom prst="rect">
            <a:avLst/>
          </a:prstGeom>
          <a:noFill/>
          <a:ln/>
        </p:spPr>
        <p:txBody>
          <a:bodyPr wrap="square" lIns="0" tIns="0" rIns="0" bIns="0" rtlCol="0" anchor="t"/>
          <a:lstStyle/>
          <a:p>
            <a:pPr indent="0" marL="0">
              <a:buNone/>
            </a:pPr>
            <a:r>
              <a:rPr lang="en-US" sz="1400" dirty="0">
                <a:solidFill>
                  <a:schemeClr val="tx1"/>
                </a:solidFill>
              </a:rPr>
              <a:t>automated end-to-end tests pass: sign-up to delivery</a:t>
            </a:r>
            <a:endParaRPr lang="en-US" sz="1400" dirty="0"/>
          </a:p>
        </p:txBody>
      </p:sp>
      <p:sp>
        <p:nvSpPr>
          <p:cNvPr id="32" name="quality card 3"/>
          <p:cNvSpPr/>
          <p:nvPr/>
        </p:nvSpPr>
        <p:spPr>
          <a:xfrm>
            <a:off x="8046720" y="4069080"/>
            <a:ext cx="3520440" cy="1783080"/>
          </a:xfrm>
          <a:prstGeom prst="roundRect">
            <a:avLst>
              <a:gd name="adj" fmla="val 6154"/>
            </a:avLst>
          </a:prstGeom>
          <a:solidFill>
            <a:schemeClr val="bg2"/>
          </a:solidFill>
          <a:ln/>
          <a:effectLst>
            <a:outerShdw sx="100000" sy="100000" kx="0" ky="0" algn="bl" rotWithShape="0" blurRad="76200" dist="25400" dir="5400000">
              <a:srgbClr val="1B2E1F">
                <a:alpha val="12000"/>
              </a:srgbClr>
            </a:outerShdw>
          </a:effectLst>
        </p:spPr>
      </p:sp>
      <p:sp>
        <p:nvSpPr>
          <p:cNvPr id="33" name="quality 3 circle"/>
          <p:cNvSpPr/>
          <p:nvPr/>
        </p:nvSpPr>
        <p:spPr>
          <a:xfrm>
            <a:off x="8275320" y="4297680"/>
            <a:ext cx="640080" cy="640080"/>
          </a:xfrm>
          <a:prstGeom prst="ellipse">
            <a:avLst/>
          </a:prstGeom>
          <a:solidFill>
            <a:schemeClr val="accent1"/>
          </a:solidFill>
          <a:ln/>
        </p:spPr>
      </p:sp>
      <p:pic>
        <p:nvPicPr>
          <p:cNvPr id="34" name="quality 3 icon" descr="preencoded.png">    </p:cNvPr>
          <p:cNvPicPr>
            <a:picLocks noChangeAspect="1"/>
          </p:cNvPicPr>
          <p:nvPr/>
        </p:nvPicPr>
        <p:blipFill>
          <a:blip r:embed="rId7"/>
          <a:stretch>
            <a:fillRect/>
          </a:stretch>
        </p:blipFill>
        <p:spPr>
          <a:xfrm>
            <a:off x="8435340" y="4457700"/>
            <a:ext cx="320040" cy="320040"/>
          </a:xfrm>
          <a:prstGeom prst="rect">
            <a:avLst/>
          </a:prstGeom>
        </p:spPr>
      </p:pic>
      <p:sp>
        <p:nvSpPr>
          <p:cNvPr id="35" name="Text 26"/>
          <p:cNvSpPr txBox="1"/>
          <p:nvPr/>
        </p:nvSpPr>
        <p:spPr>
          <a:xfrm>
            <a:off x="9052560" y="4297680"/>
            <a:ext cx="2377440" cy="64008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Role-based</a:t>
            </a:r>
            <a:endParaRPr lang="en-US" sz="2400" dirty="0"/>
          </a:p>
        </p:txBody>
      </p:sp>
      <p:sp>
        <p:nvSpPr>
          <p:cNvPr id="36" name="Text 27"/>
          <p:cNvSpPr txBox="1"/>
          <p:nvPr/>
        </p:nvSpPr>
        <p:spPr>
          <a:xfrm>
            <a:off x="8275320" y="5074920"/>
            <a:ext cx="3108960" cy="868680"/>
          </a:xfrm>
          <a:prstGeom prst="rect">
            <a:avLst/>
          </a:prstGeom>
          <a:noFill/>
          <a:ln/>
        </p:spPr>
        <p:txBody>
          <a:bodyPr wrap="square" lIns="0" tIns="0" rIns="0" bIns="0" rtlCol="0" anchor="t"/>
          <a:lstStyle/>
          <a:p>
            <a:pPr indent="0" marL="0">
              <a:buNone/>
            </a:pPr>
            <a:r>
              <a:rPr lang="en-US" sz="1400" dirty="0">
                <a:solidFill>
                  <a:schemeClr val="tx1"/>
                </a:solidFill>
              </a:rPr>
              <a:t>access, hashed passwords, verified organizations, audit log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Impact and next steps</a:t>
            </a:r>
            <a:endParaRPr lang="en-US" sz="3400" dirty="0"/>
          </a:p>
        </p:txBody>
      </p:sp>
      <p:sp>
        <p:nvSpPr>
          <p:cNvPr id="3" name="Text 1"/>
          <p:cNvSpPr txBox="1"/>
          <p:nvPr/>
        </p:nvSpPr>
        <p:spPr>
          <a:xfrm>
            <a:off x="548640" y="1371600"/>
            <a:ext cx="530352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What FoodSphere AI delivers</a:t>
            </a:r>
            <a:endParaRPr lang="en-US" sz="2200" dirty="0"/>
          </a:p>
        </p:txBody>
      </p:sp>
      <p:sp>
        <p:nvSpPr>
          <p:cNvPr id="4" name="Text 2"/>
          <p:cNvSpPr txBox="1"/>
          <p:nvPr/>
        </p:nvSpPr>
        <p:spPr>
          <a:xfrm>
            <a:off x="6355080" y="1371600"/>
            <a:ext cx="530352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Next steps</a:t>
            </a:r>
            <a:endParaRPr lang="en-US" sz="2200" dirty="0"/>
          </a:p>
        </p:txBody>
      </p:sp>
      <p:sp>
        <p:nvSpPr>
          <p:cNvPr id="5" name="closing 0.6 0 circle"/>
          <p:cNvSpPr/>
          <p:nvPr/>
        </p:nvSpPr>
        <p:spPr>
          <a:xfrm>
            <a:off x="548640" y="2057400"/>
            <a:ext cx="731520" cy="731520"/>
          </a:xfrm>
          <a:prstGeom prst="ellipse">
            <a:avLst/>
          </a:prstGeom>
          <a:solidFill>
            <a:schemeClr val="accent1"/>
          </a:solidFill>
          <a:ln/>
        </p:spPr>
      </p:sp>
      <p:pic>
        <p:nvPicPr>
          <p:cNvPr id="6" name="closing 0.6 0 icon" descr="preencoded.png">    </p:cNvPr>
          <p:cNvPicPr>
            <a:picLocks noChangeAspect="1"/>
          </p:cNvPicPr>
          <p:nvPr/>
        </p:nvPicPr>
        <p:blipFill>
          <a:blip r:embed="rId1"/>
          <a:stretch>
            <a:fillRect/>
          </a:stretch>
        </p:blipFill>
        <p:spPr>
          <a:xfrm>
            <a:off x="731520" y="2240280"/>
            <a:ext cx="365760" cy="365760"/>
          </a:xfrm>
          <a:prstGeom prst="rect">
            <a:avLst/>
          </a:prstGeom>
        </p:spPr>
      </p:pic>
      <p:sp>
        <p:nvSpPr>
          <p:cNvPr id="7" name="Text 4"/>
          <p:cNvSpPr txBox="1"/>
          <p:nvPr/>
        </p:nvSpPr>
        <p:spPr>
          <a:xfrm>
            <a:off x="1508760" y="2057400"/>
            <a:ext cx="4343400" cy="731520"/>
          </a:xfrm>
          <a:prstGeom prst="rect">
            <a:avLst/>
          </a:prstGeom>
          <a:noFill/>
          <a:ln/>
        </p:spPr>
        <p:txBody>
          <a:bodyPr wrap="square" lIns="0" tIns="0" rIns="0" bIns="0" rtlCol="0" anchor="ctr"/>
          <a:lstStyle/>
          <a:p>
            <a:pPr indent="0" marL="0">
              <a:buNone/>
            </a:pPr>
            <a:r>
              <a:rPr lang="en-US" sz="1600" dirty="0">
                <a:solidFill>
                  <a:schemeClr val="bg1"/>
                </a:solidFill>
              </a:rPr>
              <a:t>Waste is predicted before it happens: 71% accurate risk levels, ±7.8 units leftover error</a:t>
            </a:r>
            <a:endParaRPr lang="en-US" sz="1600" dirty="0"/>
          </a:p>
        </p:txBody>
      </p:sp>
      <p:sp>
        <p:nvSpPr>
          <p:cNvPr id="8" name="closing 0.6 1 circle"/>
          <p:cNvSpPr/>
          <p:nvPr/>
        </p:nvSpPr>
        <p:spPr>
          <a:xfrm>
            <a:off x="548640" y="3200400"/>
            <a:ext cx="731520" cy="731520"/>
          </a:xfrm>
          <a:prstGeom prst="ellipse">
            <a:avLst/>
          </a:prstGeom>
          <a:solidFill>
            <a:schemeClr val="accent1"/>
          </a:solidFill>
          <a:ln/>
        </p:spPr>
      </p:sp>
      <p:pic>
        <p:nvPicPr>
          <p:cNvPr id="9" name="closing 0.6 1 icon" descr="preencoded.png">    </p:cNvPr>
          <p:cNvPicPr>
            <a:picLocks noChangeAspect="1"/>
          </p:cNvPicPr>
          <p:nvPr/>
        </p:nvPicPr>
        <p:blipFill>
          <a:blip r:embed="rId2"/>
          <a:stretch>
            <a:fillRect/>
          </a:stretch>
        </p:blipFill>
        <p:spPr>
          <a:xfrm>
            <a:off x="731520" y="3383280"/>
            <a:ext cx="365760" cy="365760"/>
          </a:xfrm>
          <a:prstGeom prst="rect">
            <a:avLst/>
          </a:prstGeom>
        </p:spPr>
      </p:pic>
      <p:sp>
        <p:nvSpPr>
          <p:cNvPr id="10" name="Text 6"/>
          <p:cNvSpPr txBox="1"/>
          <p:nvPr/>
        </p:nvSpPr>
        <p:spPr>
          <a:xfrm>
            <a:off x="1508760" y="3200400"/>
            <a:ext cx="4343400" cy="731520"/>
          </a:xfrm>
          <a:prstGeom prst="rect">
            <a:avLst/>
          </a:prstGeom>
          <a:noFill/>
          <a:ln/>
        </p:spPr>
        <p:txBody>
          <a:bodyPr wrap="square" lIns="0" tIns="0" rIns="0" bIns="0" rtlCol="0" anchor="ctr"/>
          <a:lstStyle/>
          <a:p>
            <a:pPr indent="0" marL="0">
              <a:buNone/>
            </a:pPr>
            <a:r>
              <a:rPr lang="en-US" sz="1600" dirty="0">
                <a:solidFill>
                  <a:schemeClr val="bg1"/>
                </a:solidFill>
              </a:rPr>
              <a:t>Surplus goes to the organization most likely to receive it: 81% accurate</a:t>
            </a:r>
            <a:endParaRPr lang="en-US" sz="1600" dirty="0"/>
          </a:p>
        </p:txBody>
      </p:sp>
      <p:sp>
        <p:nvSpPr>
          <p:cNvPr id="11" name="closing 0.6 2 circle"/>
          <p:cNvSpPr/>
          <p:nvPr/>
        </p:nvSpPr>
        <p:spPr>
          <a:xfrm>
            <a:off x="548640" y="4343400"/>
            <a:ext cx="731520" cy="731520"/>
          </a:xfrm>
          <a:prstGeom prst="ellipse">
            <a:avLst/>
          </a:prstGeom>
          <a:solidFill>
            <a:schemeClr val="accent1"/>
          </a:solidFill>
          <a:ln/>
        </p:spPr>
      </p:sp>
      <p:pic>
        <p:nvPicPr>
          <p:cNvPr id="12" name="closing 0.6 2 icon" descr="preencoded.png">    </p:cNvPr>
          <p:cNvPicPr>
            <a:picLocks noChangeAspect="1"/>
          </p:cNvPicPr>
          <p:nvPr/>
        </p:nvPicPr>
        <p:blipFill>
          <a:blip r:embed="rId3"/>
          <a:stretch>
            <a:fillRect/>
          </a:stretch>
        </p:blipFill>
        <p:spPr>
          <a:xfrm>
            <a:off x="731520" y="4526280"/>
            <a:ext cx="365760" cy="365760"/>
          </a:xfrm>
          <a:prstGeom prst="rect">
            <a:avLst/>
          </a:prstGeom>
        </p:spPr>
      </p:pic>
      <p:sp>
        <p:nvSpPr>
          <p:cNvPr id="13" name="Text 8"/>
          <p:cNvSpPr txBox="1"/>
          <p:nvPr/>
        </p:nvSpPr>
        <p:spPr>
          <a:xfrm>
            <a:off x="1508760" y="4343400"/>
            <a:ext cx="4343400" cy="731520"/>
          </a:xfrm>
          <a:prstGeom prst="rect">
            <a:avLst/>
          </a:prstGeom>
          <a:noFill/>
          <a:ln/>
        </p:spPr>
        <p:txBody>
          <a:bodyPr wrap="square" lIns="0" tIns="0" rIns="0" bIns="0" rtlCol="0" anchor="ctr"/>
          <a:lstStyle/>
          <a:p>
            <a:pPr indent="0" marL="0">
              <a:buNone/>
            </a:pPr>
            <a:r>
              <a:rPr lang="en-US" sz="1600" dirty="0">
                <a:solidFill>
                  <a:schemeClr val="bg1"/>
                </a:solidFill>
              </a:rPr>
              <a:t>A complete, tested platform for donors, organizations, volunteers and admins</a:t>
            </a:r>
            <a:endParaRPr lang="en-US" sz="1600" dirty="0"/>
          </a:p>
        </p:txBody>
      </p:sp>
      <p:sp>
        <p:nvSpPr>
          <p:cNvPr id="14" name="closing 6.95 0 circle"/>
          <p:cNvSpPr/>
          <p:nvPr/>
        </p:nvSpPr>
        <p:spPr>
          <a:xfrm>
            <a:off x="6355080" y="2057400"/>
            <a:ext cx="731520" cy="731520"/>
          </a:xfrm>
          <a:prstGeom prst="ellipse">
            <a:avLst/>
          </a:prstGeom>
          <a:solidFill>
            <a:schemeClr val="accent2"/>
          </a:solidFill>
          <a:ln/>
        </p:spPr>
      </p:sp>
      <p:pic>
        <p:nvPicPr>
          <p:cNvPr id="15" name="closing 6.95 0 icon" descr="preencoded.png">    </p:cNvPr>
          <p:cNvPicPr>
            <a:picLocks noChangeAspect="1"/>
          </p:cNvPicPr>
          <p:nvPr/>
        </p:nvPicPr>
        <p:blipFill>
          <a:blip r:embed="rId4"/>
          <a:stretch>
            <a:fillRect/>
          </a:stretch>
        </p:blipFill>
        <p:spPr>
          <a:xfrm>
            <a:off x="6537960" y="2240280"/>
            <a:ext cx="365760" cy="365760"/>
          </a:xfrm>
          <a:prstGeom prst="rect">
            <a:avLst/>
          </a:prstGeom>
        </p:spPr>
      </p:pic>
      <p:sp>
        <p:nvSpPr>
          <p:cNvPr id="16" name="Text 10"/>
          <p:cNvSpPr txBox="1"/>
          <p:nvPr/>
        </p:nvSpPr>
        <p:spPr>
          <a:xfrm>
            <a:off x="7315200" y="2057400"/>
            <a:ext cx="4343400" cy="731520"/>
          </a:xfrm>
          <a:prstGeom prst="rect">
            <a:avLst/>
          </a:prstGeom>
          <a:noFill/>
          <a:ln/>
        </p:spPr>
        <p:txBody>
          <a:bodyPr wrap="square" lIns="0" tIns="0" rIns="0" bIns="0" rtlCol="0" anchor="ctr"/>
          <a:lstStyle/>
          <a:p>
            <a:pPr indent="0" marL="0">
              <a:buNone/>
            </a:pPr>
            <a:r>
              <a:rPr lang="en-US" sz="1600" dirty="0">
                <a:solidFill>
                  <a:schemeClr val="bg1"/>
                </a:solidFill>
              </a:rPr>
              <a:t>Collect real delivery records and retrain the matching model on them</a:t>
            </a:r>
            <a:endParaRPr lang="en-US" sz="1600" dirty="0"/>
          </a:p>
        </p:txBody>
      </p:sp>
      <p:sp>
        <p:nvSpPr>
          <p:cNvPr id="17" name="closing 6.95 1 circle"/>
          <p:cNvSpPr/>
          <p:nvPr/>
        </p:nvSpPr>
        <p:spPr>
          <a:xfrm>
            <a:off x="6355080" y="3200400"/>
            <a:ext cx="731520" cy="731520"/>
          </a:xfrm>
          <a:prstGeom prst="ellipse">
            <a:avLst/>
          </a:prstGeom>
          <a:solidFill>
            <a:schemeClr val="accent2"/>
          </a:solidFill>
          <a:ln/>
        </p:spPr>
      </p:sp>
      <p:pic>
        <p:nvPicPr>
          <p:cNvPr id="18" name="closing 6.95 1 icon" descr="preencoded.png">    </p:cNvPr>
          <p:cNvPicPr>
            <a:picLocks noChangeAspect="1"/>
          </p:cNvPicPr>
          <p:nvPr/>
        </p:nvPicPr>
        <p:blipFill>
          <a:blip r:embed="rId5"/>
          <a:stretch>
            <a:fillRect/>
          </a:stretch>
        </p:blipFill>
        <p:spPr>
          <a:xfrm>
            <a:off x="6537960" y="3383280"/>
            <a:ext cx="365760" cy="365760"/>
          </a:xfrm>
          <a:prstGeom prst="rect">
            <a:avLst/>
          </a:prstGeom>
        </p:spPr>
      </p:pic>
      <p:sp>
        <p:nvSpPr>
          <p:cNvPr id="19" name="Text 12"/>
          <p:cNvSpPr txBox="1"/>
          <p:nvPr/>
        </p:nvSpPr>
        <p:spPr>
          <a:xfrm>
            <a:off x="7315200" y="3200400"/>
            <a:ext cx="4343400" cy="731520"/>
          </a:xfrm>
          <a:prstGeom prst="rect">
            <a:avLst/>
          </a:prstGeom>
          <a:noFill/>
          <a:ln/>
        </p:spPr>
        <p:txBody>
          <a:bodyPr wrap="square" lIns="0" tIns="0" rIns="0" bIns="0" rtlCol="0" anchor="ctr"/>
          <a:lstStyle/>
          <a:p>
            <a:pPr indent="0" marL="0">
              <a:buNone/>
            </a:pPr>
            <a:r>
              <a:rPr lang="en-US" sz="1600" dirty="0">
                <a:solidFill>
                  <a:schemeClr val="bg1"/>
                </a:solidFill>
              </a:rPr>
              <a:t>Launch online (Vercel + cloud database) for a pilot with local restaurants</a:t>
            </a:r>
            <a:endParaRPr lang="en-US" sz="1600" dirty="0"/>
          </a:p>
        </p:txBody>
      </p:sp>
      <p:sp>
        <p:nvSpPr>
          <p:cNvPr id="20" name="closing 6.95 2 circle"/>
          <p:cNvSpPr/>
          <p:nvPr/>
        </p:nvSpPr>
        <p:spPr>
          <a:xfrm>
            <a:off x="6355080" y="4343400"/>
            <a:ext cx="731520" cy="731520"/>
          </a:xfrm>
          <a:prstGeom prst="ellipse">
            <a:avLst/>
          </a:prstGeom>
          <a:solidFill>
            <a:schemeClr val="accent2"/>
          </a:solidFill>
          <a:ln/>
        </p:spPr>
      </p:sp>
      <p:pic>
        <p:nvPicPr>
          <p:cNvPr id="21" name="closing 6.95 2 icon" descr="preencoded.png">    </p:cNvPr>
          <p:cNvPicPr>
            <a:picLocks noChangeAspect="1"/>
          </p:cNvPicPr>
          <p:nvPr/>
        </p:nvPicPr>
        <p:blipFill>
          <a:blip r:embed="rId6"/>
          <a:stretch>
            <a:fillRect/>
          </a:stretch>
        </p:blipFill>
        <p:spPr>
          <a:xfrm>
            <a:off x="6537960" y="4526280"/>
            <a:ext cx="365760" cy="365760"/>
          </a:xfrm>
          <a:prstGeom prst="rect">
            <a:avLst/>
          </a:prstGeom>
        </p:spPr>
      </p:pic>
      <p:sp>
        <p:nvSpPr>
          <p:cNvPr id="22" name="Text 14"/>
          <p:cNvSpPr txBox="1"/>
          <p:nvPr/>
        </p:nvSpPr>
        <p:spPr>
          <a:xfrm>
            <a:off x="7315200" y="4343400"/>
            <a:ext cx="4343400" cy="731520"/>
          </a:xfrm>
          <a:prstGeom prst="rect">
            <a:avLst/>
          </a:prstGeom>
          <a:noFill/>
          <a:ln/>
        </p:spPr>
        <p:txBody>
          <a:bodyPr wrap="square" lIns="0" tIns="0" rIns="0" bIns="0" rtlCol="0" anchor="ctr"/>
          <a:lstStyle/>
          <a:p>
            <a:pPr indent="0" marL="0">
              <a:buNone/>
            </a:pPr>
            <a:r>
              <a:rPr lang="en-US" sz="1600" dirty="0">
                <a:solidFill>
                  <a:schemeClr val="bg1"/>
                </a:solidFill>
              </a:rPr>
              <a:t>Add SMS / mobile alerts so volunteers can react faster</a:t>
            </a:r>
            <a:endParaRPr lang="en-US" sz="1600" dirty="0"/>
          </a:p>
        </p:txBody>
      </p:sp>
      <p:sp>
        <p:nvSpPr>
          <p:cNvPr id="23" name="Text 15"/>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Thank you  ·  Questions?</a:t>
            </a:r>
            <a:endParaRPr lang="en-US" sz="2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Fresh Harvest">
  <a:themeElements>
    <a:clrScheme name="Fresh Harvest">
      <a:dk1>
        <a:srgbClr val="1B2E1F"/>
      </a:dk1>
      <a:lt1>
        <a:srgbClr val="FFFFFF"/>
      </a:lt1>
      <a:dk2>
        <a:srgbClr val="1F4D2B"/>
      </a:dk2>
      <a:lt2>
        <a:srgbClr val="EEF5EC"/>
      </a:lt2>
      <a:accent1>
        <a:srgbClr val="2E7D32"/>
      </a:accent1>
      <a:accent2>
        <a:srgbClr val="E07A2F"/>
      </a:accent2>
      <a:accent3>
        <a:srgbClr val="8BC34A"/>
      </a:accent3>
      <a:accent4>
        <a:srgbClr val="F2B134"/>
      </a:accent4>
      <a:accent5>
        <a:srgbClr val="6D8B74"/>
      </a:accent5>
      <a:accent6>
        <a:srgbClr val="C0392B"/>
      </a:accent6>
      <a:hlink>
        <a:srgbClr val="2E7D32"/>
      </a:hlink>
      <a:folHlink>
        <a:srgbClr val="6D8B74"/>
      </a:folHlink>
    </a:clrScheme>
    <a:fontScheme name="Fresh Harv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FoodSphere AI — Food Waste Zero</dc:title>
  <dc:subject>PptxGenJS Presentation</dc:subject>
  <dc:creator>FoodSphere AI team</dc:creator>
  <cp:lastModifiedBy>FoodSphere AI team</cp:lastModifiedBy>
  <cp:revision>1</cp:revision>
  <dcterms:created xsi:type="dcterms:W3CDTF">2026-10-22T14:22:55Z</dcterms:created>
  <dcterms:modified xsi:type="dcterms:W3CDTF">2026-10-22T14:22:55Z</dcterms:modified>
</cp:coreProperties>
</file>